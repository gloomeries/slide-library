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6"/>
  </p:normalViewPr>
  <p:slideViewPr>
    <p:cSldViewPr snapToGrid="0" showGuides="1">
      <p:cViewPr varScale="1">
        <p:scale>
          <a:sx n="107" d="100"/>
          <a:sy n="107" d="100"/>
        </p:scale>
        <p:origin x="66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B3D4B-C407-F485-D47A-934CFB59E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7C02B-51AC-2DDC-B09F-6F5B23679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C1BD6-3158-72C4-6E44-6F2E3AA9B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6752-BEF8-2A4E-B1B2-CC7689BA7A26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3ADF6-4843-8144-C790-A7E8F974B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DAD17-F865-7461-9073-FA637EF18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157A-2CC3-8648-BE0D-2AF01ECE72A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318081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66762-D749-1444-757C-36050B7A5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5B7B9-9070-697B-44FB-FC3EAEFDE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D2BA3-55A2-25D1-678B-DD1E2B0C0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6752-BEF8-2A4E-B1B2-CC7689BA7A26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CE4D1-C6FB-8A0E-5FD7-689E42D8A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BB7DF-E8B1-5BEB-82AA-80C9C9EAF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157A-2CC3-8648-BE0D-2AF01ECE72A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3761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F24D2-DE14-808C-40E2-BFEE8FF27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4889C-76AA-E129-CB02-58169D87C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9CC84-3D3E-DF89-4544-61A8EF626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6752-BEF8-2A4E-B1B2-CC7689BA7A26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5D69B-67C6-3299-7976-FC96DD81D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A5BD8-25BD-9B62-CC41-F8D3FB198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157A-2CC3-8648-BE0D-2AF01ECE72A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742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5BE0C-1844-4FC3-CE89-ABA1A0BBB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8B670-A057-CD80-C70E-B997C7964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0F40F-AD9E-C2D7-E27D-3EC04F5D5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405CF-DF31-E104-4715-2E30A9781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6752-BEF8-2A4E-B1B2-CC7689BA7A26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398E1-CF1A-781E-100F-2C3C3656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15DD6-7B87-45FC-AD8F-C94395FA1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157A-2CC3-8648-BE0D-2AF01ECE72A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336767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EB421-947A-FAC7-F093-B8011C6F6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61155-0333-78DC-6EDC-98036413E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A204E6-2382-0DAA-4C16-0ED2AD371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E31703-309F-B728-8B2C-F68CBA7147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259F84-CDB8-E6E0-C668-9143BABA7A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3A60E1-4570-D49F-0A08-123A787BD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6752-BEF8-2A4E-B1B2-CC7689BA7A26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12EB0E-A039-FA34-6585-5F57A0A4A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98B878-9F93-2F74-E1DA-6017B07AC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157A-2CC3-8648-BE0D-2AF01ECE72A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29983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0F0D-B176-7CAB-2052-8CC97A35E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D8718E-D7C0-4F78-B291-C73BAB06A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6752-BEF8-2A4E-B1B2-CC7689BA7A26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B9B596-0C9E-1730-332C-7320B6575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3C633-2849-04FF-5457-2C8545D38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157A-2CC3-8648-BE0D-2AF01ECE72A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6932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DF9D06-1678-07B9-6504-D2C2D853D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6752-BEF8-2A4E-B1B2-CC7689BA7A26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6510B9-62CB-019F-A311-57CC0ACF3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0ED36-A7BC-CF96-8A75-9AD991372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157A-2CC3-8648-BE0D-2AF01ECE72A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594521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18A09-D7CD-EA43-2802-078A73426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B76B0-3A1B-BFC6-EA3C-1EE4C4630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5752D-B796-8D54-24A7-20E254E51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1F6EB-65D2-1D18-D0AB-C6E50A010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6752-BEF8-2A4E-B1B2-CC7689BA7A26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6FC65-6B53-2536-AA15-41119D6EB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11F60-361E-70DC-D975-7E2BECE32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157A-2CC3-8648-BE0D-2AF01ECE72A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78071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E6A3D-D23F-DD51-A3C2-DAACDC880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05E240-D923-237F-98C1-125E56168B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CBC22-EEBA-E3EA-EB22-10C45634B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E7F93-76F9-D5BC-45B3-251177D95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6752-BEF8-2A4E-B1B2-CC7689BA7A26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97D11-B715-68AF-6FF9-BEDC8FD94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D92EC-178F-7435-700D-980702164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157A-2CC3-8648-BE0D-2AF01ECE72A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637270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4BC48-2171-CD17-BD7C-930E5AB83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CA0D6-9E62-A8E0-97C9-8BD830C75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743BE-0A3B-36A0-763C-54B39337A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6752-BEF8-2A4E-B1B2-CC7689BA7A26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3B6CF-7B16-B01B-135C-A139B3087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60400-CE1B-E65C-27A2-4C52CEA8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157A-2CC3-8648-BE0D-2AF01ECE72A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24251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4A6774-13E7-20C5-FBE5-2885D0781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AA501F-3A74-FA62-604F-7DF8285CE1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B765C-74ED-A245-411A-DAE4CC3A1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16752-BEF8-2A4E-B1B2-CC7689BA7A26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42639-D491-521D-A0B3-6AF2C922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FA875-925F-089D-1906-09726A839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5157A-2CC3-8648-BE0D-2AF01ECE72A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69269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CE9F8A-FB33-125B-5AAD-3252CEA8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354FD-BE86-3B6B-FC96-5E31DD4A4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EDDE9-C28D-5581-6BB7-AA575CB231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16752-BEF8-2A4E-B1B2-CC7689BA7A26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355F4-AF42-7E24-B975-6BCB14CCE0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A754C-3412-4DEB-AFFD-489D3A78E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5157A-2CC3-8648-BE0D-2AF01ECE72AB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7994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C7A61-6B5D-A228-B379-4B41FF8C8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27AE15-5C83-332F-8686-24DC13B7E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838" y="6308725"/>
            <a:ext cx="2743200" cy="365125"/>
          </a:xfrm>
        </p:spPr>
        <p:txBody>
          <a:bodyPr/>
          <a:lstStyle/>
          <a:p>
            <a:fld id="{7D144A82-4D05-BE4C-BA0D-9309131612F6}" type="slidenum">
              <a:rPr lang="ru-RU" smtClean="0">
                <a:latin typeface="AzbukaVkusa Light" panose="02000000000000000000" pitchFamily="2" charset="0"/>
              </a:rPr>
              <a:t>1</a:t>
            </a:fld>
            <a:endParaRPr lang="ru-RU">
              <a:latin typeface="AzbukaVkusa Light" panose="02000000000000000000" pitchFamily="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0767413-2E27-EFDD-CA47-5F8160C8E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0136" y="184150"/>
            <a:ext cx="996320" cy="34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C482AE2-C186-4883-9663-3C4A10CC56B9}"/>
              </a:ext>
            </a:extLst>
          </p:cNvPr>
          <p:cNvSpPr/>
          <p:nvPr/>
        </p:nvSpPr>
        <p:spPr>
          <a:xfrm>
            <a:off x="334964" y="157881"/>
            <a:ext cx="2017538" cy="391393"/>
          </a:xfrm>
          <a:prstGeom prst="roundRect">
            <a:avLst>
              <a:gd name="adj" fmla="val 20028"/>
            </a:avLst>
          </a:prstGeom>
          <a:solidFill>
            <a:srgbClr val="0747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latin typeface="AzbukaVkusa" panose="02000000000000000000" pitchFamily="2" charset="0"/>
              </a:rPr>
              <a:t>Команда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32E20B-F6FE-E899-A474-C26C47458227}"/>
              </a:ext>
            </a:extLst>
          </p:cNvPr>
          <p:cNvSpPr txBox="1"/>
          <p:nvPr/>
        </p:nvSpPr>
        <p:spPr>
          <a:xfrm>
            <a:off x="241300" y="727631"/>
            <a:ext cx="8282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AzbukaVkusa Medium" panose="02000000000000000000" pitchFamily="2" charset="0"/>
              </a:rPr>
              <a:t>Команда консультантов по процессам и операционной эффективности</a:t>
            </a:r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D24E94FC-A5B6-DDB3-6B3D-CA5E38127DFB}"/>
              </a:ext>
            </a:extLst>
          </p:cNvPr>
          <p:cNvGrpSpPr/>
          <p:nvPr/>
        </p:nvGrpSpPr>
        <p:grpSpPr>
          <a:xfrm>
            <a:off x="241300" y="1515501"/>
            <a:ext cx="2592211" cy="4037697"/>
            <a:chOff x="241300" y="1501052"/>
            <a:chExt cx="2592211" cy="403769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B853E9E-1760-4BAA-99C4-C8A56ADF920D}"/>
                </a:ext>
              </a:extLst>
            </p:cNvPr>
            <p:cNvSpPr txBox="1"/>
            <p:nvPr/>
          </p:nvSpPr>
          <p:spPr>
            <a:xfrm>
              <a:off x="1553462" y="1501052"/>
              <a:ext cx="11687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zbukaVkusa Medium" panose="02000000000000000000" pitchFamily="2" charset="0"/>
                </a:rPr>
                <a:t>First name</a:t>
              </a:r>
            </a:p>
            <a:p>
              <a:r>
                <a:rPr lang="en-US" dirty="0">
                  <a:latin typeface="AzbukaVkusa Medium" panose="02000000000000000000" pitchFamily="2" charset="0"/>
                </a:rPr>
                <a:t>Last name</a:t>
              </a:r>
              <a:endParaRPr lang="ru-RU" dirty="0">
                <a:latin typeface="AzbukaVkusa Medium" panose="02000000000000000000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043486C-39C9-C13B-204F-7CDAEAF7FB47}"/>
                </a:ext>
              </a:extLst>
            </p:cNvPr>
            <p:cNvSpPr txBox="1"/>
            <p:nvPr/>
          </p:nvSpPr>
          <p:spPr>
            <a:xfrm>
              <a:off x="241300" y="2498520"/>
              <a:ext cx="82785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2CBE64"/>
                  </a:solidFill>
                  <a:latin typeface="AzbukaVkusa" panose="02000000000000000000" pitchFamily="2" charset="0"/>
                </a:rPr>
                <a:t>Role</a:t>
              </a:r>
            </a:p>
            <a:p>
              <a:r>
                <a:rPr lang="en-US" sz="1600" dirty="0">
                  <a:solidFill>
                    <a:srgbClr val="2CBE64"/>
                  </a:solidFill>
                  <a:latin typeface="AzbukaVkusa" panose="02000000000000000000" pitchFamily="2" charset="0"/>
                </a:rPr>
                <a:t>Contact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46A3EFB-B39D-58AE-D419-5FBAE4D0D23F}"/>
                </a:ext>
              </a:extLst>
            </p:cNvPr>
            <p:cNvSpPr txBox="1"/>
            <p:nvPr/>
          </p:nvSpPr>
          <p:spPr>
            <a:xfrm>
              <a:off x="241300" y="3445868"/>
              <a:ext cx="2592211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ru-RU" sz="1200" dirty="0">
                  <a:latin typeface="AzbukaVkusa Light" panose="02000000000000000000" pitchFamily="2" charset="0"/>
                </a:rPr>
                <a:t>Специалист в сфере оценки </a:t>
              </a:r>
              <a:r>
                <a:rPr lang="en-US" sz="1200" dirty="0">
                  <a:latin typeface="AzbukaVkusa Light" panose="02000000000000000000" pitchFamily="2" charset="0"/>
                </a:rPr>
                <a:t>As Is/To Be, </a:t>
              </a:r>
              <a:r>
                <a:rPr lang="ru-RU" sz="1200" dirty="0">
                  <a:latin typeface="AzbukaVkusa Light" panose="02000000000000000000" pitchFamily="2" charset="0"/>
                </a:rPr>
                <a:t>расчета экономических эффектов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ru-RU" sz="1200" dirty="0">
                  <a:latin typeface="AzbukaVkusa Light" panose="02000000000000000000" pitchFamily="2" charset="0"/>
                </a:rPr>
                <a:t>Студентка второго курса Высшей школы экономики</a:t>
              </a:r>
              <a:r>
                <a:rPr lang="en-US" sz="1200" dirty="0">
                  <a:latin typeface="AzbukaVkusa Light" panose="02000000000000000000" pitchFamily="2" charset="0"/>
                </a:rPr>
                <a:t>, </a:t>
              </a:r>
              <a:r>
                <a:rPr lang="ru-RU" sz="1200" dirty="0">
                  <a:latin typeface="AzbukaVkusa Light" panose="02000000000000000000" pitchFamily="2" charset="0"/>
                </a:rPr>
                <a:t>Управление цепями поставок и бизнес-аналитика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ru-RU" sz="1200" dirty="0">
                  <a:latin typeface="AzbukaVkusa Light" panose="02000000000000000000" pitchFamily="2" charset="0"/>
                </a:rPr>
                <a:t>Победитель кейс-чемпионата </a:t>
              </a:r>
              <a:r>
                <a:rPr lang="en-US" sz="1200" dirty="0" err="1">
                  <a:latin typeface="AzbukaVkusa Light" panose="02000000000000000000" pitchFamily="2" charset="0"/>
                </a:rPr>
                <a:t>Changellenge</a:t>
              </a:r>
              <a:r>
                <a:rPr lang="en-US" sz="1200" dirty="0">
                  <a:latin typeface="AzbukaVkusa Light" panose="02000000000000000000" pitchFamily="2" charset="0"/>
                </a:rPr>
                <a:t> Cup IT 2024 (</a:t>
              </a:r>
              <a:r>
                <a:rPr lang="ru-RU" sz="1200" dirty="0">
                  <a:latin typeface="AzbukaVkusa Light" panose="02000000000000000000" pitchFamily="2" charset="0"/>
                </a:rPr>
                <a:t>Бизнес-аналитика)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180388A-9185-34CC-7A30-65318E9CEF2F}"/>
              </a:ext>
            </a:extLst>
          </p:cNvPr>
          <p:cNvSpPr txBox="1"/>
          <p:nvPr/>
        </p:nvSpPr>
        <p:spPr>
          <a:xfrm>
            <a:off x="3280336" y="3460317"/>
            <a:ext cx="259221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AzbukaVkusa Light" panose="02000000000000000000" pitchFamily="2" charset="0"/>
              </a:rPr>
              <a:t>Специалист в сфере создания карточек проектов</a:t>
            </a:r>
            <a:r>
              <a:rPr lang="en-US" sz="1200" dirty="0">
                <a:latin typeface="AzbukaVkusa Light" panose="02000000000000000000" pitchFamily="2" charset="0"/>
              </a:rPr>
              <a:t>, </a:t>
            </a:r>
            <a:r>
              <a:rPr lang="ru-RU" sz="1200" dirty="0">
                <a:latin typeface="AzbukaVkusa Light" panose="02000000000000000000" pitchFamily="2" charset="0"/>
              </a:rPr>
              <a:t>использования фреймворка «5 почему» и описания рыбьих скелетов</a:t>
            </a:r>
            <a:endParaRPr lang="en-US" sz="1200" dirty="0">
              <a:latin typeface="AzbukaVkusa Light" panose="02000000000000000000" pitchFamily="2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AzbukaVkusa Light" panose="02000000000000000000" pitchFamily="2" charset="0"/>
              </a:rPr>
              <a:t>Студентка второго курса Высшей школы экономики</a:t>
            </a:r>
            <a:r>
              <a:rPr lang="en-US" sz="1200" dirty="0">
                <a:latin typeface="AzbukaVkusa Light" panose="02000000000000000000" pitchFamily="2" charset="0"/>
              </a:rPr>
              <a:t>, </a:t>
            </a:r>
            <a:r>
              <a:rPr lang="ru-RU" sz="1200" dirty="0">
                <a:latin typeface="AzbukaVkusa Light" panose="02000000000000000000" pitchFamily="2" charset="0"/>
              </a:rPr>
              <a:t>Управление цепями поставок и бизнес-аналитика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AzbukaVkusa Light" panose="02000000000000000000" pitchFamily="2" charset="0"/>
              </a:rPr>
              <a:t>Победитель кейс-чемпионата </a:t>
            </a:r>
            <a:r>
              <a:rPr lang="en-US" sz="1200" dirty="0" err="1">
                <a:latin typeface="AzbukaVkusa Light" panose="02000000000000000000" pitchFamily="2" charset="0"/>
              </a:rPr>
              <a:t>Axenix</a:t>
            </a:r>
            <a:r>
              <a:rPr lang="en-US" sz="1200" dirty="0">
                <a:latin typeface="AzbukaVkusa Light" panose="02000000000000000000" pitchFamily="2" charset="0"/>
              </a:rPr>
              <a:t> Case Sprint 2024, </a:t>
            </a:r>
            <a:r>
              <a:rPr lang="ru-RU" sz="1200" dirty="0">
                <a:latin typeface="AzbukaVkusa Light" panose="02000000000000000000" pitchFamily="2" charset="0"/>
              </a:rPr>
              <a:t>полуфиналист кейс-чемпионата </a:t>
            </a:r>
            <a:r>
              <a:rPr lang="en-US" sz="1200" dirty="0" err="1">
                <a:latin typeface="AzbukaVkusa Light" panose="02000000000000000000" pitchFamily="2" charset="0"/>
              </a:rPr>
              <a:t>Axenix</a:t>
            </a:r>
            <a:r>
              <a:rPr lang="en-US" sz="1200" dirty="0">
                <a:latin typeface="AzbukaVkusa Light" panose="02000000000000000000" pitchFamily="2" charset="0"/>
              </a:rPr>
              <a:t> x HSE 2024 </a:t>
            </a:r>
            <a:endParaRPr lang="ru-RU" sz="1200" dirty="0">
              <a:latin typeface="AzbukaVkusa Light" panose="02000000000000000000" pitchFamily="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3F9F16B-2B2F-9E49-BC47-C41F39E61D90}"/>
              </a:ext>
            </a:extLst>
          </p:cNvPr>
          <p:cNvSpPr txBox="1"/>
          <p:nvPr/>
        </p:nvSpPr>
        <p:spPr>
          <a:xfrm>
            <a:off x="6183667" y="3460317"/>
            <a:ext cx="259221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AzbukaVkusa Light" panose="02000000000000000000" pitchFamily="2" charset="0"/>
              </a:rPr>
              <a:t>Специалист в сфере коммуникации с заказчиками</a:t>
            </a:r>
            <a:r>
              <a:rPr lang="en-US" sz="1200" dirty="0">
                <a:latin typeface="AzbukaVkusa Light" panose="02000000000000000000" pitchFamily="2" charset="0"/>
              </a:rPr>
              <a:t>, </a:t>
            </a:r>
            <a:r>
              <a:rPr lang="ru-RU" sz="1200" dirty="0">
                <a:latin typeface="AzbukaVkusa Light" panose="02000000000000000000" pitchFamily="2" charset="0"/>
              </a:rPr>
              <a:t>аналитики данных и рисования слайдов</a:t>
            </a:r>
            <a:endParaRPr lang="en-US" sz="1200" dirty="0">
              <a:latin typeface="AzbukaVkusa Light" panose="02000000000000000000" pitchFamily="2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AzbukaVkusa Light" panose="02000000000000000000" pitchFamily="2" charset="0"/>
              </a:rPr>
              <a:t>Студент второго курса Высшей школы экономики</a:t>
            </a:r>
            <a:r>
              <a:rPr lang="en-US" sz="1200" dirty="0">
                <a:latin typeface="AzbukaVkusa Light" panose="02000000000000000000" pitchFamily="2" charset="0"/>
              </a:rPr>
              <a:t>, </a:t>
            </a:r>
            <a:r>
              <a:rPr lang="ru-RU" sz="1200" dirty="0">
                <a:latin typeface="AzbukaVkusa Light" panose="02000000000000000000" pitchFamily="2" charset="0"/>
              </a:rPr>
              <a:t>Управление цепями поставок и бизнес-аналитика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AzbukaVkusa Light" panose="02000000000000000000" pitchFamily="2" charset="0"/>
              </a:rPr>
              <a:t>Победитель кейс-чемпионата </a:t>
            </a:r>
            <a:r>
              <a:rPr lang="en-US" sz="1200" dirty="0" err="1">
                <a:latin typeface="AzbukaVkusa Light" panose="02000000000000000000" pitchFamily="2" charset="0"/>
              </a:rPr>
              <a:t>Changellenge</a:t>
            </a:r>
            <a:r>
              <a:rPr lang="en-US" sz="1200" dirty="0">
                <a:latin typeface="AzbukaVkusa Light" panose="02000000000000000000" pitchFamily="2" charset="0"/>
              </a:rPr>
              <a:t> Cup IT 2024 (</a:t>
            </a:r>
            <a:r>
              <a:rPr lang="ru-RU" sz="1200" dirty="0">
                <a:latin typeface="AzbukaVkusa Light" panose="02000000000000000000" pitchFamily="2" charset="0"/>
              </a:rPr>
              <a:t>Бизнес-аналитика)</a:t>
            </a:r>
            <a:r>
              <a:rPr lang="en-US" sz="1200" dirty="0">
                <a:latin typeface="AzbukaVkusa Light" panose="02000000000000000000" pitchFamily="2" charset="0"/>
              </a:rPr>
              <a:t>, VK x HSE Case Champ 2024</a:t>
            </a:r>
            <a:endParaRPr lang="ru-RU" sz="1200" dirty="0">
              <a:latin typeface="AzbukaVkusa Light" panose="02000000000000000000" pitchFamily="2" charset="0"/>
            </a:endParaRPr>
          </a:p>
        </p:txBody>
      </p:sp>
      <p:sp>
        <p:nvSpPr>
          <p:cNvPr id="2049" name="TextBox 2048">
            <a:extLst>
              <a:ext uri="{FF2B5EF4-FFF2-40B4-BE49-F238E27FC236}">
                <a16:creationId xmlns:a16="http://schemas.microsoft.com/office/drawing/2014/main" id="{66442DFB-A793-5E77-33A0-441A0C52069E}"/>
              </a:ext>
            </a:extLst>
          </p:cNvPr>
          <p:cNvSpPr txBox="1"/>
          <p:nvPr/>
        </p:nvSpPr>
        <p:spPr>
          <a:xfrm>
            <a:off x="9222703" y="3460317"/>
            <a:ext cx="259221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AzbukaVkusa Light" panose="02000000000000000000" pitchFamily="2" charset="0"/>
              </a:rPr>
              <a:t>Специалист в сфере описания рыбьих скелетов и составления дорожных </a:t>
            </a:r>
            <a:r>
              <a:rPr lang="ru-RU" sz="1200">
                <a:latin typeface="AzbukaVkusa Light" panose="02000000000000000000" pitchFamily="2" charset="0"/>
              </a:rPr>
              <a:t>карт проектов</a:t>
            </a:r>
            <a:endParaRPr lang="en-US" sz="1200" dirty="0">
              <a:latin typeface="AzbukaVkusa Light" panose="02000000000000000000" pitchFamily="2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AzbukaVkusa Light" panose="02000000000000000000" pitchFamily="2" charset="0"/>
              </a:rPr>
              <a:t>Студентка второго курса Высшей школы экономики</a:t>
            </a:r>
            <a:r>
              <a:rPr lang="en-US" sz="1200" dirty="0">
                <a:latin typeface="AzbukaVkusa Light" panose="02000000000000000000" pitchFamily="2" charset="0"/>
              </a:rPr>
              <a:t>, </a:t>
            </a:r>
            <a:r>
              <a:rPr lang="ru-RU" sz="1200" dirty="0">
                <a:latin typeface="AzbukaVkusa Light" panose="02000000000000000000" pitchFamily="2" charset="0"/>
              </a:rPr>
              <a:t>Управление цепями поставок и бизнес-аналитика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latin typeface="AzbukaVkusa Light" panose="02000000000000000000" pitchFamily="2" charset="0"/>
              </a:rPr>
              <a:t>Победитель кейс-чемпионата </a:t>
            </a:r>
            <a:r>
              <a:rPr lang="en-US" sz="1200" dirty="0" err="1">
                <a:latin typeface="AzbukaVkusa Light" panose="02000000000000000000" pitchFamily="2" charset="0"/>
              </a:rPr>
              <a:t>Axenix</a:t>
            </a:r>
            <a:r>
              <a:rPr lang="en-US" sz="1200" dirty="0">
                <a:latin typeface="AzbukaVkusa Light" panose="02000000000000000000" pitchFamily="2" charset="0"/>
              </a:rPr>
              <a:t> Case Sprint 2024, </a:t>
            </a:r>
            <a:r>
              <a:rPr lang="ru-RU" sz="1200" dirty="0">
                <a:latin typeface="AzbukaVkusa Light" panose="02000000000000000000" pitchFamily="2" charset="0"/>
              </a:rPr>
              <a:t>полуфиналист кейс-чемпионата </a:t>
            </a:r>
            <a:r>
              <a:rPr lang="en-US" sz="1200" dirty="0" err="1">
                <a:latin typeface="AzbukaVkusa Light" panose="02000000000000000000" pitchFamily="2" charset="0"/>
              </a:rPr>
              <a:t>Axenix</a:t>
            </a:r>
            <a:r>
              <a:rPr lang="en-US" sz="1200" dirty="0">
                <a:latin typeface="AzbukaVkusa Light" panose="02000000000000000000" pitchFamily="2" charset="0"/>
              </a:rPr>
              <a:t> x HSE 2024 </a:t>
            </a:r>
            <a:endParaRPr lang="ru-RU" sz="1200" dirty="0">
              <a:latin typeface="AzbukaVkusa Light" panose="02000000000000000000" pitchFamily="2" charset="0"/>
            </a:endParaRPr>
          </a:p>
        </p:txBody>
      </p:sp>
      <p:cxnSp>
        <p:nvCxnSpPr>
          <p:cNvPr id="2059" name="Прямая соединительная линия 2058">
            <a:extLst>
              <a:ext uri="{FF2B5EF4-FFF2-40B4-BE49-F238E27FC236}">
                <a16:creationId xmlns:a16="http://schemas.microsoft.com/office/drawing/2014/main" id="{DFBDFD80-A587-1868-5FEA-AD1D6E524469}"/>
              </a:ext>
            </a:extLst>
          </p:cNvPr>
          <p:cNvCxnSpPr>
            <a:cxnSpLocks/>
          </p:cNvCxnSpPr>
          <p:nvPr/>
        </p:nvCxnSpPr>
        <p:spPr>
          <a:xfrm>
            <a:off x="334964" y="3284538"/>
            <a:ext cx="254067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0" name="Прямая соединительная линия 2059">
            <a:extLst>
              <a:ext uri="{FF2B5EF4-FFF2-40B4-BE49-F238E27FC236}">
                <a16:creationId xmlns:a16="http://schemas.microsoft.com/office/drawing/2014/main" id="{956AA506-9542-6D99-50C5-BF96514F931B}"/>
              </a:ext>
            </a:extLst>
          </p:cNvPr>
          <p:cNvCxnSpPr>
            <a:cxnSpLocks/>
          </p:cNvCxnSpPr>
          <p:nvPr/>
        </p:nvCxnSpPr>
        <p:spPr>
          <a:xfrm>
            <a:off x="3374000" y="3284538"/>
            <a:ext cx="254067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1" name="Прямая соединительная линия 2060">
            <a:extLst>
              <a:ext uri="{FF2B5EF4-FFF2-40B4-BE49-F238E27FC236}">
                <a16:creationId xmlns:a16="http://schemas.microsoft.com/office/drawing/2014/main" id="{285ED4D3-EEA7-BA15-DC94-DFD2821C77AF}"/>
              </a:ext>
            </a:extLst>
          </p:cNvPr>
          <p:cNvCxnSpPr>
            <a:cxnSpLocks/>
          </p:cNvCxnSpPr>
          <p:nvPr/>
        </p:nvCxnSpPr>
        <p:spPr>
          <a:xfrm>
            <a:off x="6277331" y="3284538"/>
            <a:ext cx="254067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2" name="Прямая соединительная линия 2061">
            <a:extLst>
              <a:ext uri="{FF2B5EF4-FFF2-40B4-BE49-F238E27FC236}">
                <a16:creationId xmlns:a16="http://schemas.microsoft.com/office/drawing/2014/main" id="{9A220001-31C5-F06F-0DE9-764A6C80F80C}"/>
              </a:ext>
            </a:extLst>
          </p:cNvPr>
          <p:cNvCxnSpPr>
            <a:cxnSpLocks/>
          </p:cNvCxnSpPr>
          <p:nvPr/>
        </p:nvCxnSpPr>
        <p:spPr>
          <a:xfrm>
            <a:off x="9316367" y="3284538"/>
            <a:ext cx="254067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902D9F22-70A5-9633-6A97-D13FEC36EFE2}"/>
              </a:ext>
            </a:extLst>
          </p:cNvPr>
          <p:cNvSpPr/>
          <p:nvPr/>
        </p:nvSpPr>
        <p:spPr>
          <a:xfrm>
            <a:off x="334964" y="1377538"/>
            <a:ext cx="1008769" cy="1009402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699235-4DB8-7A46-4418-11CD7A79C5D5}"/>
              </a:ext>
            </a:extLst>
          </p:cNvPr>
          <p:cNvSpPr/>
          <p:nvPr/>
        </p:nvSpPr>
        <p:spPr>
          <a:xfrm>
            <a:off x="3373600" y="1377538"/>
            <a:ext cx="1008769" cy="1009402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264A70-840F-151C-879F-D76ECBE994E1}"/>
              </a:ext>
            </a:extLst>
          </p:cNvPr>
          <p:cNvSpPr/>
          <p:nvPr/>
        </p:nvSpPr>
        <p:spPr>
          <a:xfrm>
            <a:off x="6277331" y="1377538"/>
            <a:ext cx="1008769" cy="1009402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5267D6D-CBA4-F82E-B4A0-7CC813B5EB08}"/>
              </a:ext>
            </a:extLst>
          </p:cNvPr>
          <p:cNvSpPr/>
          <p:nvPr/>
        </p:nvSpPr>
        <p:spPr>
          <a:xfrm>
            <a:off x="9316367" y="1377538"/>
            <a:ext cx="1008769" cy="1009402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15885C-5D2A-A615-AB36-DFE71CD2286A}"/>
              </a:ext>
            </a:extLst>
          </p:cNvPr>
          <p:cNvSpPr txBox="1"/>
          <p:nvPr/>
        </p:nvSpPr>
        <p:spPr>
          <a:xfrm>
            <a:off x="4592098" y="1559073"/>
            <a:ext cx="1168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zbukaVkusa Medium" panose="02000000000000000000" pitchFamily="2" charset="0"/>
              </a:rPr>
              <a:t>First name</a:t>
            </a:r>
          </a:p>
          <a:p>
            <a:r>
              <a:rPr lang="en-US" dirty="0">
                <a:latin typeface="AzbukaVkusa Medium" panose="02000000000000000000" pitchFamily="2" charset="0"/>
              </a:rPr>
              <a:t>Last name</a:t>
            </a:r>
            <a:endParaRPr lang="ru-RU" dirty="0">
              <a:latin typeface="AzbukaVkusa Medium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045D6C-46C2-E80C-193D-EC5B29E7AC4F}"/>
              </a:ext>
            </a:extLst>
          </p:cNvPr>
          <p:cNvSpPr txBox="1"/>
          <p:nvPr/>
        </p:nvSpPr>
        <p:spPr>
          <a:xfrm>
            <a:off x="7547666" y="1559073"/>
            <a:ext cx="1168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zbukaVkusa Medium" panose="02000000000000000000" pitchFamily="2" charset="0"/>
              </a:rPr>
              <a:t>First name</a:t>
            </a:r>
          </a:p>
          <a:p>
            <a:r>
              <a:rPr lang="en-US" dirty="0">
                <a:latin typeface="AzbukaVkusa Medium" panose="02000000000000000000" pitchFamily="2" charset="0"/>
              </a:rPr>
              <a:t>Last name</a:t>
            </a:r>
            <a:endParaRPr lang="ru-RU" dirty="0">
              <a:latin typeface="AzbukaVkusa Medium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DE6F6B-F73E-A35C-09FE-443A3A276444}"/>
              </a:ext>
            </a:extLst>
          </p:cNvPr>
          <p:cNvSpPr txBox="1"/>
          <p:nvPr/>
        </p:nvSpPr>
        <p:spPr>
          <a:xfrm>
            <a:off x="10518808" y="1559072"/>
            <a:ext cx="1168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zbukaVkusa Medium" panose="02000000000000000000" pitchFamily="2" charset="0"/>
              </a:rPr>
              <a:t>First name</a:t>
            </a:r>
          </a:p>
          <a:p>
            <a:r>
              <a:rPr lang="en-US" dirty="0">
                <a:latin typeface="AzbukaVkusa Medium" panose="02000000000000000000" pitchFamily="2" charset="0"/>
              </a:rPr>
              <a:t>Last name</a:t>
            </a:r>
            <a:endParaRPr lang="ru-RU" dirty="0">
              <a:latin typeface="AzbukaVkusa Medium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4C3889-EB69-6EB1-865C-F615960C7392}"/>
              </a:ext>
            </a:extLst>
          </p:cNvPr>
          <p:cNvSpPr txBox="1"/>
          <p:nvPr/>
        </p:nvSpPr>
        <p:spPr>
          <a:xfrm>
            <a:off x="3464056" y="2512968"/>
            <a:ext cx="827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CBE64"/>
                </a:solidFill>
                <a:latin typeface="AzbukaVkusa" panose="02000000000000000000" pitchFamily="2" charset="0"/>
              </a:rPr>
              <a:t>Role</a:t>
            </a:r>
          </a:p>
          <a:p>
            <a:r>
              <a:rPr lang="en-US" sz="1600" dirty="0">
                <a:solidFill>
                  <a:srgbClr val="2CBE64"/>
                </a:solidFill>
                <a:latin typeface="AzbukaVkusa" panose="02000000000000000000" pitchFamily="2" charset="0"/>
              </a:rPr>
              <a:t>Contact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378801-5FAC-6ED4-F7A9-970B197C05DC}"/>
              </a:ext>
            </a:extLst>
          </p:cNvPr>
          <p:cNvSpPr txBox="1"/>
          <p:nvPr/>
        </p:nvSpPr>
        <p:spPr>
          <a:xfrm>
            <a:off x="6272884" y="2512967"/>
            <a:ext cx="827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CBE64"/>
                </a:solidFill>
                <a:latin typeface="AzbukaVkusa" panose="02000000000000000000" pitchFamily="2" charset="0"/>
              </a:rPr>
              <a:t>Role</a:t>
            </a:r>
          </a:p>
          <a:p>
            <a:r>
              <a:rPr lang="en-US" sz="1600" dirty="0">
                <a:solidFill>
                  <a:srgbClr val="2CBE64"/>
                </a:solidFill>
                <a:latin typeface="AzbukaVkusa" panose="02000000000000000000" pitchFamily="2" charset="0"/>
              </a:rPr>
              <a:t>Contact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C86FE2-FA9C-AF5C-969E-A2C30FF08930}"/>
              </a:ext>
            </a:extLst>
          </p:cNvPr>
          <p:cNvSpPr txBox="1"/>
          <p:nvPr/>
        </p:nvSpPr>
        <p:spPr>
          <a:xfrm>
            <a:off x="9292474" y="2523985"/>
            <a:ext cx="827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CBE64"/>
                </a:solidFill>
                <a:latin typeface="AzbukaVkusa" panose="02000000000000000000" pitchFamily="2" charset="0"/>
              </a:rPr>
              <a:t>Role</a:t>
            </a:r>
          </a:p>
          <a:p>
            <a:r>
              <a:rPr lang="en-US" sz="1600" dirty="0">
                <a:solidFill>
                  <a:srgbClr val="2CBE64"/>
                </a:solidFill>
                <a:latin typeface="AzbukaVkusa" panose="02000000000000000000" pitchFamily="2" charset="0"/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2117777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Macintosh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AzbukaVkusa</vt:lpstr>
      <vt:lpstr>AzbukaVkusa Light</vt:lpstr>
      <vt:lpstr>AzbukaVkusa Medium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1</cp:revision>
  <dcterms:created xsi:type="dcterms:W3CDTF">2026-04-03T09:24:19Z</dcterms:created>
  <dcterms:modified xsi:type="dcterms:W3CDTF">2026-04-03T09:25:00Z</dcterms:modified>
</cp:coreProperties>
</file>
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6"/>
  </p:normalViewPr>
  <p:slideViewPr>
    <p:cSldViewPr snapToGrid="0" showGuides="1">
      <p:cViewPr varScale="1">
        <p:scale>
          <a:sx n="107" d="100"/>
          <a:sy n="107" d="100"/>
        </p:scale>
        <p:origin x="6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bulatiskhkv\Downloads\&#1086;&#1087;&#1077;&#1088;&#1084;&#1077;&#1085;%20&#1040;&#104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Прогноз!$B$13</c:f>
              <c:strCache>
                <c:ptCount val="1"/>
                <c:pt idx="0">
                  <c:v>As is</c:v>
                </c:pt>
              </c:strCache>
            </c:strRef>
          </c:tx>
          <c:spPr>
            <a:solidFill>
              <a:srgbClr val="D9D5D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Прогноз!$A$14:$A$16</c:f>
              <c:strCache>
                <c:ptCount val="3"/>
                <c:pt idx="0">
                  <c:v>OT</c:v>
                </c:pt>
                <c:pt idx="1">
                  <c:v>IF</c:v>
                </c:pt>
                <c:pt idx="2">
                  <c:v>OTIF</c:v>
                </c:pt>
              </c:strCache>
            </c:strRef>
          </c:cat>
          <c:val>
            <c:numRef>
              <c:f>Прогноз!$B$14:$B$16</c:f>
              <c:numCache>
                <c:formatCode>0.00%</c:formatCode>
                <c:ptCount val="3"/>
                <c:pt idx="0">
                  <c:v>0.83673469387755106</c:v>
                </c:pt>
                <c:pt idx="1">
                  <c:v>0.81632653061224492</c:v>
                </c:pt>
                <c:pt idx="2">
                  <c:v>0.68304872969596009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16-5744-B326-8CECFA5A2B8B}"/>
            </c:ext>
          </c:extLst>
        </c:ser>
        <c:ser>
          <c:idx val="1"/>
          <c:order val="1"/>
          <c:tx>
            <c:strRef>
              <c:f>Прогноз!$C$13</c:f>
              <c:strCache>
                <c:ptCount val="1"/>
                <c:pt idx="0">
                  <c:v>To be</c:v>
                </c:pt>
              </c:strCache>
            </c:strRef>
          </c:tx>
          <c:spPr>
            <a:solidFill>
              <a:srgbClr val="0747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Прогноз!$A$14:$A$16</c:f>
              <c:strCache>
                <c:ptCount val="3"/>
                <c:pt idx="0">
                  <c:v>OT</c:v>
                </c:pt>
                <c:pt idx="1">
                  <c:v>IF</c:v>
                </c:pt>
                <c:pt idx="2">
                  <c:v>OTIF</c:v>
                </c:pt>
              </c:strCache>
            </c:strRef>
          </c:cat>
          <c:val>
            <c:numRef>
              <c:f>Прогноз!$C$14:$C$16</c:f>
              <c:numCache>
                <c:formatCode>0%</c:formatCode>
                <c:ptCount val="3"/>
                <c:pt idx="0">
                  <c:v>0.95</c:v>
                </c:pt>
                <c:pt idx="1">
                  <c:v>0.9</c:v>
                </c:pt>
                <c:pt idx="2">
                  <c:v>0.85499999999999998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16-5744-B326-8CECFA5A2B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16772800"/>
        <c:axId val="316774512"/>
      </c:barChart>
      <c:catAx>
        <c:axId val="316772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zbukaVkusa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316774512"/>
        <c:crosses val="autoZero"/>
        <c:auto val="1"/>
        <c:lblAlgn val="ctr"/>
        <c:lblOffset val="100"/>
        <c:noMultiLvlLbl val="0"/>
      </c:catAx>
      <c:valAx>
        <c:axId val="316774512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316772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AzbukaVkusa Light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C77D-59CB-3FF6-7AD9-CE38EDCD9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71CAB-77B3-ABCC-9E34-543CD6E1E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6748A-ABC6-68B0-0DE2-ADEF36BB9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06F63-6693-6CF6-E2E8-0A3EE09D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56E65-5CCE-FAAD-6B29-6A006198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1808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5662-77F4-C11B-2F28-D6320160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F636-2226-5C59-DF2D-CD8096737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0ED14-315E-CF41-3C81-F83D62E7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DE70C-C4AD-5D53-D560-3E82EB80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0ACB8-3695-8D95-F88E-4A1D0FA8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2999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1636-FAF4-3792-F9B2-F51835F1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C168B-C1F2-51C8-E822-454592E3F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7120E-76FA-1F71-F3B6-6D6EF492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41781-4E27-365A-16F7-2DD59903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33FE3-6DC6-70C2-74D5-C12657AF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91190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5A49-7DA1-3301-8908-CDB0F441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A746E-A8AD-2984-0CDD-6FFC8957A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6C1EA-9DAC-9238-E1A7-328B9D79B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4524E-2446-D11C-5644-5376C9DD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09D12-BB29-4AD1-E014-A95E2059B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DC0AF-5A20-7EC1-78CD-B09334B8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4244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B7571-31A4-DD16-3C15-7206F854A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758C9-3674-602E-4721-72C1384F5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52E57-C43C-4ECD-4AC4-453454049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3848B2-6312-E747-8FB7-97044F359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2FB09-35C5-DB11-EFEF-97833EA1B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735B7E-08BB-F150-6C4A-BE255BCC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CB345-4064-3E75-B973-7C1B4D521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B3A9C8-D181-D3E9-1A7D-5AB7BF48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5880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D8BEA-A9DD-2D24-5631-6B31E8D07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6D13C1-5EE7-964D-D329-E15B58AB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27F4C-B9EB-1B66-CEB7-38F367381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15EA1-7ECF-D55E-50F8-923C5B58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1042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217A9-DAE9-2C4E-D7F9-E1119EA21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83296D-328E-754E-8D94-326061CA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763E6-8BC0-7DED-76E6-EBEE073E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19847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D045-2326-73DC-E9B1-2EB0DCDB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EFA5A-7C76-BA15-0296-87300F9E6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43E38-5884-3B92-04AB-66B01B61D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DE9F5-8FC3-2EF9-19E7-6D04F335A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40702-592A-2A30-43E6-16B01EDA9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6F263-1FB1-2157-9A4E-6D11D85C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3290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196A-445E-41B4-AE18-802B86803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61F5EF-E634-8CE8-FFC4-F309DFEBFD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7904C2-934B-779F-BDA6-7791D2801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2FF21-2AB5-3709-F621-7B1011AD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4D0B8-586C-8BDC-6C9C-9B416E6DF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BB24C-02BA-AF31-3C85-5EB8E898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8362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E8F1-A672-A66C-AD9A-A3A1EC75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34F3D-D494-1340-6DD2-6D6C75984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FE68F-96F7-0608-3BCC-707E8B563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09E0B-4040-FE20-F1B2-84576E1FA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0A526-5DAD-E5E5-8A83-484EE94E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6839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BC8C48-5287-3003-87E0-1655B14F7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C464E-CFBC-7F86-A391-FD52C0E70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EEEE5-C97F-88F6-BA77-C3D3EFF6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0656A-86C0-80EE-D86F-9F5EBA32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61E4A-500A-8B68-C5F5-9B092D7A0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31524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CDFFD3-0FFE-E6F6-48AB-0391FF539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2E976-8F35-C1F1-353A-43A19E123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72261-ECC5-E727-003A-929A9BE57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62451-0686-DC4B-8924-883F35343E1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A07B2-B99E-9B11-8CC1-1E3D9E862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1D98-A6F6-0414-5BF8-09880C02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02AE8-2869-B34B-9903-DCFCFB73D22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3487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587C-A98B-24B8-D953-B2662618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057C7F-BF04-A840-1FB0-1115F712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308725"/>
            <a:ext cx="2743200" cy="365125"/>
          </a:xfrm>
        </p:spPr>
        <p:txBody>
          <a:bodyPr/>
          <a:lstStyle/>
          <a:p>
            <a:fld id="{7D144A82-4D05-BE4C-BA0D-9309131612F6}" type="slidenum">
              <a:rPr lang="ru-RU" smtClean="0">
                <a:latin typeface="AzbukaVkusa Light" panose="02000000000000000000" pitchFamily="2" charset="0"/>
              </a:rPr>
              <a:t>1</a:t>
            </a:fld>
            <a:endParaRPr lang="ru-RU">
              <a:latin typeface="AzbukaVkusa Light" panose="02000000000000000000" pitchFamily="2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2CB2B91-E014-FD8B-BA3E-2A7CA9F5CD0D}"/>
              </a:ext>
            </a:extLst>
          </p:cNvPr>
          <p:cNvCxnSpPr/>
          <p:nvPr/>
        </p:nvCxnSpPr>
        <p:spPr>
          <a:xfrm>
            <a:off x="334963" y="6324189"/>
            <a:ext cx="1152207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AD3269C-0CC0-14AB-7C02-42D8743BD1E7}"/>
              </a:ext>
            </a:extLst>
          </p:cNvPr>
          <p:cNvCxnSpPr/>
          <p:nvPr/>
        </p:nvCxnSpPr>
        <p:spPr>
          <a:xfrm>
            <a:off x="334963" y="1161640"/>
            <a:ext cx="1152207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9BDC0EFD-21B0-E847-9C06-244A81533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0136" y="184150"/>
            <a:ext cx="996320" cy="34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D5F1036A-A3E2-1365-C361-7A208A37C365}"/>
              </a:ext>
            </a:extLst>
          </p:cNvPr>
          <p:cNvSpPr/>
          <p:nvPr/>
        </p:nvSpPr>
        <p:spPr>
          <a:xfrm>
            <a:off x="334964" y="157881"/>
            <a:ext cx="2017538" cy="391393"/>
          </a:xfrm>
          <a:prstGeom prst="roundRect">
            <a:avLst>
              <a:gd name="adj" fmla="val 20028"/>
            </a:avLst>
          </a:prstGeom>
          <a:solidFill>
            <a:srgbClr val="074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AzbukaVkusa" panose="02000000000000000000" pitchFamily="2" charset="0"/>
              </a:rPr>
              <a:t>Дорожная карта</a:t>
            </a:r>
          </a:p>
        </p:txBody>
      </p:sp>
      <p:sp>
        <p:nvSpPr>
          <p:cNvPr id="3" name="Скругленный прямоугольник 110">
            <a:extLst>
              <a:ext uri="{FF2B5EF4-FFF2-40B4-BE49-F238E27FC236}">
                <a16:creationId xmlns:a16="http://schemas.microsoft.com/office/drawing/2014/main" id="{DDFA0629-B5A5-B05F-6B63-02DAD976747F}"/>
              </a:ext>
            </a:extLst>
          </p:cNvPr>
          <p:cNvSpPr/>
          <p:nvPr/>
        </p:nvSpPr>
        <p:spPr>
          <a:xfrm>
            <a:off x="2520027" y="1283263"/>
            <a:ext cx="1227739" cy="246640"/>
          </a:xfrm>
          <a:prstGeom prst="roundRect">
            <a:avLst>
              <a:gd name="adj" fmla="val 2683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Дек 24</a:t>
            </a:r>
          </a:p>
        </p:txBody>
      </p:sp>
      <p:sp>
        <p:nvSpPr>
          <p:cNvPr id="5" name="Скругленный прямоугольник 112">
            <a:extLst>
              <a:ext uri="{FF2B5EF4-FFF2-40B4-BE49-F238E27FC236}">
                <a16:creationId xmlns:a16="http://schemas.microsoft.com/office/drawing/2014/main" id="{D14BD8FD-D0C6-DDE7-3A41-3E904E422D7E}"/>
              </a:ext>
            </a:extLst>
          </p:cNvPr>
          <p:cNvSpPr/>
          <p:nvPr/>
        </p:nvSpPr>
        <p:spPr>
          <a:xfrm>
            <a:off x="4078087" y="1283745"/>
            <a:ext cx="1227739" cy="255791"/>
          </a:xfrm>
          <a:prstGeom prst="roundRect">
            <a:avLst>
              <a:gd name="adj" fmla="val 2683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dirty="0" err="1">
                <a:solidFill>
                  <a:schemeClr val="tx1"/>
                </a:solidFill>
                <a:latin typeface="AzbukaVkusa" panose="02000000000000000000" pitchFamily="50" charset="0"/>
              </a:rPr>
              <a:t>Фев</a:t>
            </a:r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 25</a:t>
            </a:r>
          </a:p>
        </p:txBody>
      </p:sp>
      <p:sp>
        <p:nvSpPr>
          <p:cNvPr id="8" name="Скругленный прямоугольник 113">
            <a:extLst>
              <a:ext uri="{FF2B5EF4-FFF2-40B4-BE49-F238E27FC236}">
                <a16:creationId xmlns:a16="http://schemas.microsoft.com/office/drawing/2014/main" id="{49A684B9-A4D5-B1C5-1011-5E4A97FD9361}"/>
              </a:ext>
            </a:extLst>
          </p:cNvPr>
          <p:cNvSpPr/>
          <p:nvPr/>
        </p:nvSpPr>
        <p:spPr>
          <a:xfrm>
            <a:off x="5587474" y="1291468"/>
            <a:ext cx="1331121" cy="250795"/>
          </a:xfrm>
          <a:prstGeom prst="roundRect">
            <a:avLst>
              <a:gd name="adj" fmla="val 2683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Мар 25</a:t>
            </a:r>
          </a:p>
        </p:txBody>
      </p:sp>
      <p:sp>
        <p:nvSpPr>
          <p:cNvPr id="9" name="Скругленный прямоугольник 114">
            <a:extLst>
              <a:ext uri="{FF2B5EF4-FFF2-40B4-BE49-F238E27FC236}">
                <a16:creationId xmlns:a16="http://schemas.microsoft.com/office/drawing/2014/main" id="{7EDE40D6-9CCB-F829-D4C1-0BA64BC0C91A}"/>
              </a:ext>
            </a:extLst>
          </p:cNvPr>
          <p:cNvSpPr/>
          <p:nvPr/>
        </p:nvSpPr>
        <p:spPr>
          <a:xfrm>
            <a:off x="7200243" y="1307727"/>
            <a:ext cx="1227737" cy="234536"/>
          </a:xfrm>
          <a:prstGeom prst="roundRect">
            <a:avLst>
              <a:gd name="adj" fmla="val 2683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dirty="0" err="1">
                <a:solidFill>
                  <a:schemeClr val="tx1"/>
                </a:solidFill>
                <a:latin typeface="AzbukaVkusa" panose="02000000000000000000" pitchFamily="50" charset="0"/>
              </a:rPr>
              <a:t>Апр</a:t>
            </a:r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 25</a:t>
            </a:r>
          </a:p>
        </p:txBody>
      </p:sp>
      <p:sp>
        <p:nvSpPr>
          <p:cNvPr id="10" name="Скругленный прямоугольник 124">
            <a:extLst>
              <a:ext uri="{FF2B5EF4-FFF2-40B4-BE49-F238E27FC236}">
                <a16:creationId xmlns:a16="http://schemas.microsoft.com/office/drawing/2014/main" id="{2E48FE6A-AC7E-17DD-4D6A-833CB5C3CA09}"/>
              </a:ext>
            </a:extLst>
          </p:cNvPr>
          <p:cNvSpPr/>
          <p:nvPr/>
        </p:nvSpPr>
        <p:spPr>
          <a:xfrm>
            <a:off x="688174" y="1633305"/>
            <a:ext cx="1620453" cy="276998"/>
          </a:xfrm>
          <a:prstGeom prst="roundRect">
            <a:avLst>
              <a:gd name="adj" fmla="val 2527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Внедрение фотографии товаров в карточки</a:t>
            </a:r>
          </a:p>
        </p:txBody>
      </p:sp>
      <p:sp>
        <p:nvSpPr>
          <p:cNvPr id="11" name="Скругленный прямоугольник 125">
            <a:extLst>
              <a:ext uri="{FF2B5EF4-FFF2-40B4-BE49-F238E27FC236}">
                <a16:creationId xmlns:a16="http://schemas.microsoft.com/office/drawing/2014/main" id="{A9420FBB-9985-35E7-BA47-586709523FF0}"/>
              </a:ext>
            </a:extLst>
          </p:cNvPr>
          <p:cNvSpPr/>
          <p:nvPr/>
        </p:nvSpPr>
        <p:spPr>
          <a:xfrm>
            <a:off x="691565" y="1954149"/>
            <a:ext cx="1620453" cy="276998"/>
          </a:xfrm>
          <a:prstGeom prst="roundRect">
            <a:avLst>
              <a:gd name="adj" fmla="val 2527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Внедрить навигацию по магазину в интерфейс заказа</a:t>
            </a:r>
          </a:p>
        </p:txBody>
      </p:sp>
      <p:sp>
        <p:nvSpPr>
          <p:cNvPr id="12" name="Скругленный прямоугольник 126">
            <a:extLst>
              <a:ext uri="{FF2B5EF4-FFF2-40B4-BE49-F238E27FC236}">
                <a16:creationId xmlns:a16="http://schemas.microsoft.com/office/drawing/2014/main" id="{36D96DF0-BC72-A19D-D2A3-42F25554F9A8}"/>
              </a:ext>
            </a:extLst>
          </p:cNvPr>
          <p:cNvSpPr/>
          <p:nvPr/>
        </p:nvSpPr>
        <p:spPr>
          <a:xfrm>
            <a:off x="691565" y="2305546"/>
            <a:ext cx="1620453" cy="276998"/>
          </a:xfrm>
          <a:prstGeom prst="roundRect">
            <a:avLst>
              <a:gd name="adj" fmla="val 2527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Сделать отмену заказа в приложении одной кнопкой</a:t>
            </a:r>
          </a:p>
        </p:txBody>
      </p:sp>
      <p:sp>
        <p:nvSpPr>
          <p:cNvPr id="13" name="Скругленный прямоугольник 138">
            <a:extLst>
              <a:ext uri="{FF2B5EF4-FFF2-40B4-BE49-F238E27FC236}">
                <a16:creationId xmlns:a16="http://schemas.microsoft.com/office/drawing/2014/main" id="{DAA8ACE4-6971-7A5D-9A77-225282D5CD73}"/>
              </a:ext>
            </a:extLst>
          </p:cNvPr>
          <p:cNvSpPr/>
          <p:nvPr/>
        </p:nvSpPr>
        <p:spPr>
          <a:xfrm>
            <a:off x="690145" y="2654949"/>
            <a:ext cx="1620453" cy="276998"/>
          </a:xfrm>
          <a:prstGeom prst="roundRect">
            <a:avLst>
              <a:gd name="adj" fmla="val 2527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Проведение пользовательского тестирования</a:t>
            </a:r>
            <a:r>
              <a:rPr lang="en-US" sz="700" dirty="0">
                <a:solidFill>
                  <a:schemeClr val="tx1"/>
                </a:solidFill>
                <a:latin typeface="AzbukaVkusa" panose="02000000000000000000" pitchFamily="50" charset="0"/>
              </a:rPr>
              <a:t>, </a:t>
            </a:r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внесение правок</a:t>
            </a:r>
          </a:p>
        </p:txBody>
      </p:sp>
      <p:sp>
        <p:nvSpPr>
          <p:cNvPr id="14" name="Скругленный прямоугольник 141">
            <a:extLst>
              <a:ext uri="{FF2B5EF4-FFF2-40B4-BE49-F238E27FC236}">
                <a16:creationId xmlns:a16="http://schemas.microsoft.com/office/drawing/2014/main" id="{183365A4-925F-6850-8652-6C7DF0D90C70}"/>
              </a:ext>
            </a:extLst>
          </p:cNvPr>
          <p:cNvSpPr/>
          <p:nvPr/>
        </p:nvSpPr>
        <p:spPr>
          <a:xfrm>
            <a:off x="688174" y="3019482"/>
            <a:ext cx="1620453" cy="276998"/>
          </a:xfrm>
          <a:prstGeom prst="roundRect">
            <a:avLst>
              <a:gd name="adj" fmla="val 2527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Интеграция новых фичей в </a:t>
            </a:r>
            <a:r>
              <a:rPr lang="en-US" sz="700" dirty="0">
                <a:solidFill>
                  <a:schemeClr val="tx1"/>
                </a:solidFill>
                <a:latin typeface="AzbukaVkusa" panose="02000000000000000000" pitchFamily="50" charset="0"/>
              </a:rPr>
              <a:t>RDP</a:t>
            </a:r>
            <a:endParaRPr lang="ru-RU" sz="700" dirty="0">
              <a:solidFill>
                <a:schemeClr val="tx1"/>
              </a:solidFill>
              <a:latin typeface="AzbukaVkusa" panose="02000000000000000000" pitchFamily="50" charset="0"/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9ACDFC8-CC48-E70E-4176-2DCDB53BDE9B}"/>
              </a:ext>
            </a:extLst>
          </p:cNvPr>
          <p:cNvCxnSpPr>
            <a:cxnSpLocks/>
          </p:cNvCxnSpPr>
          <p:nvPr/>
        </p:nvCxnSpPr>
        <p:spPr>
          <a:xfrm flipV="1">
            <a:off x="690145" y="1917648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7A6715B-93AE-0A53-CB7C-28FE9DFBBD3B}"/>
              </a:ext>
            </a:extLst>
          </p:cNvPr>
          <p:cNvCxnSpPr>
            <a:cxnSpLocks/>
          </p:cNvCxnSpPr>
          <p:nvPr/>
        </p:nvCxnSpPr>
        <p:spPr>
          <a:xfrm flipV="1">
            <a:off x="690145" y="2271433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D21D4D7-5706-7ED1-3F56-6A11133CCE4B}"/>
              </a:ext>
            </a:extLst>
          </p:cNvPr>
          <p:cNvCxnSpPr>
            <a:cxnSpLocks/>
          </p:cNvCxnSpPr>
          <p:nvPr/>
        </p:nvCxnSpPr>
        <p:spPr>
          <a:xfrm flipV="1">
            <a:off x="690145" y="2618768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1C048C1C-012A-EB7C-21C6-A953E73EC37B}"/>
              </a:ext>
            </a:extLst>
          </p:cNvPr>
          <p:cNvCxnSpPr>
            <a:cxnSpLocks/>
          </p:cNvCxnSpPr>
          <p:nvPr/>
        </p:nvCxnSpPr>
        <p:spPr>
          <a:xfrm flipV="1">
            <a:off x="691565" y="2967055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5D33A59-A560-FF2A-F2D2-9D7F06EFA970}"/>
              </a:ext>
            </a:extLst>
          </p:cNvPr>
          <p:cNvCxnSpPr>
            <a:cxnSpLocks/>
          </p:cNvCxnSpPr>
          <p:nvPr/>
        </p:nvCxnSpPr>
        <p:spPr>
          <a:xfrm flipV="1">
            <a:off x="690160" y="3324234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6DA0B1C8-B612-F1EF-A448-440FB7B39A54}"/>
              </a:ext>
            </a:extLst>
          </p:cNvPr>
          <p:cNvCxnSpPr>
            <a:cxnSpLocks/>
          </p:cNvCxnSpPr>
          <p:nvPr/>
        </p:nvCxnSpPr>
        <p:spPr>
          <a:xfrm flipV="1">
            <a:off x="688174" y="3670088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83AEA27-A48E-97C7-51B1-7D870D920A9E}"/>
              </a:ext>
            </a:extLst>
          </p:cNvPr>
          <p:cNvCxnSpPr>
            <a:cxnSpLocks/>
          </p:cNvCxnSpPr>
          <p:nvPr/>
        </p:nvCxnSpPr>
        <p:spPr>
          <a:xfrm flipV="1">
            <a:off x="688174" y="4028025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19ACC305-28ED-1E7A-60F8-A77801C7805D}"/>
              </a:ext>
            </a:extLst>
          </p:cNvPr>
          <p:cNvCxnSpPr>
            <a:cxnSpLocks/>
          </p:cNvCxnSpPr>
          <p:nvPr/>
        </p:nvCxnSpPr>
        <p:spPr>
          <a:xfrm flipV="1">
            <a:off x="688174" y="4374035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F9F4E201-5CB5-FD92-DA98-4137E0DEBD50}"/>
              </a:ext>
            </a:extLst>
          </p:cNvPr>
          <p:cNvCxnSpPr>
            <a:cxnSpLocks/>
          </p:cNvCxnSpPr>
          <p:nvPr/>
        </p:nvCxnSpPr>
        <p:spPr>
          <a:xfrm flipV="1">
            <a:off x="688801" y="4729871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A24EB2F5-B5A4-7C69-AFDC-303351F6A68D}"/>
              </a:ext>
            </a:extLst>
          </p:cNvPr>
          <p:cNvCxnSpPr>
            <a:cxnSpLocks/>
          </p:cNvCxnSpPr>
          <p:nvPr/>
        </p:nvCxnSpPr>
        <p:spPr>
          <a:xfrm flipV="1">
            <a:off x="692457" y="5081233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46935D4-8833-B53E-9E35-2F6299FE79F4}"/>
              </a:ext>
            </a:extLst>
          </p:cNvPr>
          <p:cNvCxnSpPr>
            <a:cxnSpLocks/>
          </p:cNvCxnSpPr>
          <p:nvPr/>
        </p:nvCxnSpPr>
        <p:spPr>
          <a:xfrm flipV="1">
            <a:off x="690145" y="5432630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6C90AF5-5DF7-FBBA-3149-19F6F12D8A2C}"/>
              </a:ext>
            </a:extLst>
          </p:cNvPr>
          <p:cNvCxnSpPr>
            <a:cxnSpLocks/>
          </p:cNvCxnSpPr>
          <p:nvPr/>
        </p:nvCxnSpPr>
        <p:spPr>
          <a:xfrm flipV="1">
            <a:off x="692457" y="5780574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8D9BD82E-25BD-68F2-05E4-9F9A98D6AE1A}"/>
              </a:ext>
            </a:extLst>
          </p:cNvPr>
          <p:cNvCxnSpPr>
            <a:cxnSpLocks/>
          </p:cNvCxnSpPr>
          <p:nvPr/>
        </p:nvCxnSpPr>
        <p:spPr>
          <a:xfrm>
            <a:off x="2310598" y="1283263"/>
            <a:ext cx="0" cy="481325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Скругленный прямоугольник 164">
            <a:extLst>
              <a:ext uri="{FF2B5EF4-FFF2-40B4-BE49-F238E27FC236}">
                <a16:creationId xmlns:a16="http://schemas.microsoft.com/office/drawing/2014/main" id="{6B9CBCBF-628F-190F-018C-44466288E2A6}"/>
              </a:ext>
            </a:extLst>
          </p:cNvPr>
          <p:cNvSpPr/>
          <p:nvPr/>
        </p:nvSpPr>
        <p:spPr>
          <a:xfrm>
            <a:off x="691564" y="1285560"/>
            <a:ext cx="1561989" cy="238817"/>
          </a:xfrm>
          <a:prstGeom prst="roundRect">
            <a:avLst>
              <a:gd name="adj" fmla="val 2683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Мероприятие</a:t>
            </a:r>
            <a:r>
              <a:rPr lang="en-US" sz="700" dirty="0">
                <a:solidFill>
                  <a:schemeClr val="tx1"/>
                </a:solidFill>
                <a:latin typeface="AzbukaVkusa" panose="02000000000000000000" pitchFamily="50" charset="0"/>
              </a:rPr>
              <a:t>\</a:t>
            </a:r>
            <a:r>
              <a:rPr lang="ru-RU" sz="700" dirty="0">
                <a:solidFill>
                  <a:schemeClr val="tx1"/>
                </a:solidFill>
                <a:latin typeface="AzbukaVkusa" panose="02000000000000000000" pitchFamily="50" charset="0"/>
              </a:rPr>
              <a:t>Период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0E406A-057E-9893-752C-00D1979AD094}"/>
              </a:ext>
            </a:extLst>
          </p:cNvPr>
          <p:cNvSpPr txBox="1"/>
          <p:nvPr/>
        </p:nvSpPr>
        <p:spPr>
          <a:xfrm rot="16200000">
            <a:off x="-247865" y="2339966"/>
            <a:ext cx="13211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00" dirty="0">
                <a:solidFill>
                  <a:srgbClr val="074732"/>
                </a:solidFill>
                <a:latin typeface="AzbukaVkusa" panose="02000000000000000000" pitchFamily="50" charset="0"/>
              </a:rPr>
              <a:t>Рефакторинг приложение</a:t>
            </a: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3C6D0859-197E-8E1C-B983-8703765FFF3D}"/>
              </a:ext>
            </a:extLst>
          </p:cNvPr>
          <p:cNvGrpSpPr/>
          <p:nvPr/>
        </p:nvGrpSpPr>
        <p:grpSpPr>
          <a:xfrm>
            <a:off x="504458" y="1620970"/>
            <a:ext cx="126684" cy="1695766"/>
            <a:chOff x="504458" y="1849773"/>
            <a:chExt cx="122496" cy="1649682"/>
          </a:xfrm>
        </p:grpSpPr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E27412FE-131A-0BC7-4855-C66890A905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458" y="1857073"/>
              <a:ext cx="122496" cy="1"/>
            </a:xfrm>
            <a:prstGeom prst="line">
              <a:avLst/>
            </a:prstGeom>
            <a:ln w="12700">
              <a:solidFill>
                <a:srgbClr val="07473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417F782A-7AE6-658C-1AB0-DCC48456B3AA}"/>
                </a:ext>
              </a:extLst>
            </p:cNvPr>
            <p:cNvCxnSpPr>
              <a:cxnSpLocks/>
            </p:cNvCxnSpPr>
            <p:nvPr/>
          </p:nvCxnSpPr>
          <p:spPr>
            <a:xfrm>
              <a:off x="509272" y="1849773"/>
              <a:ext cx="1837" cy="1644068"/>
            </a:xfrm>
            <a:prstGeom prst="line">
              <a:avLst/>
            </a:prstGeom>
            <a:ln w="12700">
              <a:solidFill>
                <a:srgbClr val="07473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41DFC6C5-B726-7EF6-B8A6-CCEA46E5ED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458" y="3499454"/>
              <a:ext cx="122496" cy="1"/>
            </a:xfrm>
            <a:prstGeom prst="line">
              <a:avLst/>
            </a:prstGeom>
            <a:ln w="12700">
              <a:solidFill>
                <a:srgbClr val="07473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663C8ADD-F4C7-C96C-200E-BF6C9FE856EA}"/>
              </a:ext>
            </a:extLst>
          </p:cNvPr>
          <p:cNvGrpSpPr/>
          <p:nvPr/>
        </p:nvGrpSpPr>
        <p:grpSpPr>
          <a:xfrm>
            <a:off x="313728" y="4405175"/>
            <a:ext cx="1994582" cy="986325"/>
            <a:chOff x="316018" y="3583939"/>
            <a:chExt cx="1994582" cy="986325"/>
          </a:xfrm>
        </p:grpSpPr>
        <p:sp>
          <p:nvSpPr>
            <p:cNvPr id="35" name="Скругленный прямоугольник 127">
              <a:extLst>
                <a:ext uri="{FF2B5EF4-FFF2-40B4-BE49-F238E27FC236}">
                  <a16:creationId xmlns:a16="http://schemas.microsoft.com/office/drawing/2014/main" id="{6D98727C-7F11-F7F9-A2BA-D43A92E5BCDB}"/>
                </a:ext>
              </a:extLst>
            </p:cNvPr>
            <p:cNvSpPr/>
            <p:nvPr/>
          </p:nvSpPr>
          <p:spPr>
            <a:xfrm>
              <a:off x="690147" y="4274400"/>
              <a:ext cx="1620453" cy="276998"/>
            </a:xfrm>
            <a:prstGeom prst="roundRect">
              <a:avLst>
                <a:gd name="adj" fmla="val 2527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700" dirty="0">
                  <a:solidFill>
                    <a:schemeClr val="tx1"/>
                  </a:solidFill>
                  <a:latin typeface="AzbukaVkusa" panose="02000000000000000000" pitchFamily="50" charset="0"/>
                </a:rPr>
                <a:t>Интеграция системы на ТСД</a:t>
              </a:r>
            </a:p>
          </p:txBody>
        </p:sp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552B6F4B-AC64-D471-9D84-FB01A751F91E}"/>
                </a:ext>
              </a:extLst>
            </p:cNvPr>
            <p:cNvGrpSpPr/>
            <p:nvPr/>
          </p:nvGrpSpPr>
          <p:grpSpPr>
            <a:xfrm>
              <a:off x="506294" y="3583939"/>
              <a:ext cx="124854" cy="986325"/>
              <a:chOff x="506294" y="3619498"/>
              <a:chExt cx="126658" cy="1784429"/>
            </a:xfrm>
          </p:grpSpPr>
          <p:cxnSp>
            <p:nvCxnSpPr>
              <p:cNvPr id="40" name="Прямая соединительная линия 39">
                <a:extLst>
                  <a:ext uri="{FF2B5EF4-FFF2-40B4-BE49-F238E27FC236}">
                    <a16:creationId xmlns:a16="http://schemas.microsoft.com/office/drawing/2014/main" id="{222C2DCE-EE64-AD56-FE46-38C46063F44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08533" y="5400772"/>
                <a:ext cx="124419" cy="3155"/>
              </a:xfrm>
              <a:prstGeom prst="line">
                <a:avLst/>
              </a:prstGeom>
              <a:ln w="12700">
                <a:solidFill>
                  <a:srgbClr val="0C7A55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Прямая соединительная линия 40">
                <a:extLst>
                  <a:ext uri="{FF2B5EF4-FFF2-40B4-BE49-F238E27FC236}">
                    <a16:creationId xmlns:a16="http://schemas.microsoft.com/office/drawing/2014/main" id="{E2614AC6-5DED-6D1A-555D-8E754F06BBF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06294" y="3619498"/>
                <a:ext cx="124419" cy="3155"/>
              </a:xfrm>
              <a:prstGeom prst="line">
                <a:avLst/>
              </a:prstGeom>
              <a:ln w="12700">
                <a:solidFill>
                  <a:srgbClr val="0C7A55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Прямая соединительная линия 41">
                <a:extLst>
                  <a:ext uri="{FF2B5EF4-FFF2-40B4-BE49-F238E27FC236}">
                    <a16:creationId xmlns:a16="http://schemas.microsoft.com/office/drawing/2014/main" id="{D05DAE3A-440D-05EB-90EF-980213F836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109" y="3619498"/>
                <a:ext cx="0" cy="1781274"/>
              </a:xfrm>
              <a:prstGeom prst="line">
                <a:avLst/>
              </a:prstGeom>
              <a:ln w="12700">
                <a:solidFill>
                  <a:srgbClr val="0C7A55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E9D3706-A76E-AAB4-3621-88ED4AE09237}"/>
                </a:ext>
              </a:extLst>
            </p:cNvPr>
            <p:cNvSpPr txBox="1"/>
            <p:nvPr/>
          </p:nvSpPr>
          <p:spPr>
            <a:xfrm rot="16200000">
              <a:off x="144176" y="3928614"/>
              <a:ext cx="5437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700" dirty="0">
                  <a:solidFill>
                    <a:srgbClr val="0C7A55"/>
                  </a:solidFill>
                  <a:latin typeface="AzbukaVkusa" panose="02000000000000000000" pitchFamily="50" charset="0"/>
                </a:rPr>
                <a:t>Остатки</a:t>
              </a:r>
            </a:p>
          </p:txBody>
        </p:sp>
        <p:sp>
          <p:nvSpPr>
            <p:cNvPr id="38" name="Скругленный прямоугольник 127">
              <a:extLst>
                <a:ext uri="{FF2B5EF4-FFF2-40B4-BE49-F238E27FC236}">
                  <a16:creationId xmlns:a16="http://schemas.microsoft.com/office/drawing/2014/main" id="{08EBA88F-C43A-9C93-FD36-A95272837EC3}"/>
                </a:ext>
              </a:extLst>
            </p:cNvPr>
            <p:cNvSpPr/>
            <p:nvPr/>
          </p:nvSpPr>
          <p:spPr>
            <a:xfrm>
              <a:off x="689634" y="3611205"/>
              <a:ext cx="1620453" cy="276998"/>
            </a:xfrm>
            <a:prstGeom prst="roundRect">
              <a:avLst>
                <a:gd name="adj" fmla="val 2527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700" dirty="0">
                  <a:solidFill>
                    <a:schemeClr val="tx1"/>
                  </a:solidFill>
                  <a:latin typeface="AzbukaVkusa" panose="02000000000000000000" pitchFamily="50" charset="0"/>
                </a:rPr>
                <a:t>Разработка системы автоматизированных остатков</a:t>
              </a:r>
            </a:p>
          </p:txBody>
        </p:sp>
        <p:sp>
          <p:nvSpPr>
            <p:cNvPr id="39" name="Скругленный прямоугольник 127">
              <a:extLst>
                <a:ext uri="{FF2B5EF4-FFF2-40B4-BE49-F238E27FC236}">
                  <a16:creationId xmlns:a16="http://schemas.microsoft.com/office/drawing/2014/main" id="{3265B37B-34A0-CF41-BCC0-AF2C24C53280}"/>
                </a:ext>
              </a:extLst>
            </p:cNvPr>
            <p:cNvSpPr/>
            <p:nvPr/>
          </p:nvSpPr>
          <p:spPr>
            <a:xfrm>
              <a:off x="687713" y="3928278"/>
              <a:ext cx="1620453" cy="276998"/>
            </a:xfrm>
            <a:prstGeom prst="roundRect">
              <a:avLst>
                <a:gd name="adj" fmla="val 2527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700" dirty="0">
                  <a:solidFill>
                    <a:schemeClr val="tx1"/>
                  </a:solidFill>
                  <a:latin typeface="AzbukaVkusa" panose="02000000000000000000" pitchFamily="50" charset="0"/>
                </a:rPr>
                <a:t>Проведение пользовательского тестирования</a:t>
              </a: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654F102E-01F8-27A2-6884-4A7C46ABDFE9}"/>
              </a:ext>
            </a:extLst>
          </p:cNvPr>
          <p:cNvGrpSpPr/>
          <p:nvPr/>
        </p:nvGrpSpPr>
        <p:grpSpPr>
          <a:xfrm>
            <a:off x="324278" y="5423836"/>
            <a:ext cx="2210768" cy="683655"/>
            <a:chOff x="317670" y="4597480"/>
            <a:chExt cx="2210768" cy="683655"/>
          </a:xfrm>
        </p:grpSpPr>
        <p:grpSp>
          <p:nvGrpSpPr>
            <p:cNvPr id="44" name="Группа 43">
              <a:extLst>
                <a:ext uri="{FF2B5EF4-FFF2-40B4-BE49-F238E27FC236}">
                  <a16:creationId xmlns:a16="http://schemas.microsoft.com/office/drawing/2014/main" id="{25100A3B-F199-A234-28B6-E24A3DADE1AE}"/>
                </a:ext>
              </a:extLst>
            </p:cNvPr>
            <p:cNvGrpSpPr/>
            <p:nvPr/>
          </p:nvGrpSpPr>
          <p:grpSpPr>
            <a:xfrm>
              <a:off x="500742" y="4624004"/>
              <a:ext cx="131031" cy="657131"/>
              <a:chOff x="506294" y="3619498"/>
              <a:chExt cx="126658" cy="1784429"/>
            </a:xfrm>
          </p:grpSpPr>
          <p:cxnSp>
            <p:nvCxnSpPr>
              <p:cNvPr id="49" name="Прямая соединительная линия 48">
                <a:extLst>
                  <a:ext uri="{FF2B5EF4-FFF2-40B4-BE49-F238E27FC236}">
                    <a16:creationId xmlns:a16="http://schemas.microsoft.com/office/drawing/2014/main" id="{21215280-4EAB-5E7F-C8D2-9C71AE4E296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08533" y="5400772"/>
                <a:ext cx="124419" cy="3155"/>
              </a:xfrm>
              <a:prstGeom prst="line">
                <a:avLst/>
              </a:prstGeom>
              <a:ln w="12700">
                <a:solidFill>
                  <a:srgbClr val="14CA8D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единительная линия 49">
                <a:extLst>
                  <a:ext uri="{FF2B5EF4-FFF2-40B4-BE49-F238E27FC236}">
                    <a16:creationId xmlns:a16="http://schemas.microsoft.com/office/drawing/2014/main" id="{46932DAB-502B-F513-5EFE-0DC937B7DC1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06294" y="3619498"/>
                <a:ext cx="124419" cy="3155"/>
              </a:xfrm>
              <a:prstGeom prst="line">
                <a:avLst/>
              </a:prstGeom>
              <a:ln w="12700">
                <a:solidFill>
                  <a:srgbClr val="14CA8D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Прямая соединительная линия 50">
                <a:extLst>
                  <a:ext uri="{FF2B5EF4-FFF2-40B4-BE49-F238E27FC236}">
                    <a16:creationId xmlns:a16="http://schemas.microsoft.com/office/drawing/2014/main" id="{20BE2F11-43E2-995D-6B81-8BDD488B1A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109" y="3619498"/>
                <a:ext cx="0" cy="1781274"/>
              </a:xfrm>
              <a:prstGeom prst="line">
                <a:avLst/>
              </a:prstGeom>
              <a:ln w="12700">
                <a:solidFill>
                  <a:srgbClr val="14CA8D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D384447-52CC-C0FE-3D5F-4E1CD0DC9911}"/>
                </a:ext>
              </a:extLst>
            </p:cNvPr>
            <p:cNvSpPr txBox="1"/>
            <p:nvPr/>
          </p:nvSpPr>
          <p:spPr>
            <a:xfrm rot="16200000">
              <a:off x="118577" y="4829703"/>
              <a:ext cx="59824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700" dirty="0">
                  <a:solidFill>
                    <a:srgbClr val="14CA8D"/>
                  </a:solidFill>
                  <a:latin typeface="AzbukaVkusa" panose="02000000000000000000" pitchFamily="50" charset="0"/>
                </a:rPr>
                <a:t>Стандарт</a:t>
              </a:r>
            </a:p>
          </p:txBody>
        </p:sp>
        <p:sp>
          <p:nvSpPr>
            <p:cNvPr id="46" name="Скругленный прямоугольник 127">
              <a:extLst>
                <a:ext uri="{FF2B5EF4-FFF2-40B4-BE49-F238E27FC236}">
                  <a16:creationId xmlns:a16="http://schemas.microsoft.com/office/drawing/2014/main" id="{4DC93231-9CB9-2ABE-39F9-F23A7F39841D}"/>
                </a:ext>
              </a:extLst>
            </p:cNvPr>
            <p:cNvSpPr/>
            <p:nvPr/>
          </p:nvSpPr>
          <p:spPr>
            <a:xfrm>
              <a:off x="682801" y="4597480"/>
              <a:ext cx="1840264" cy="276998"/>
            </a:xfrm>
            <a:prstGeom prst="roundRect">
              <a:avLst>
                <a:gd name="adj" fmla="val 2527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700" dirty="0">
                  <a:solidFill>
                    <a:schemeClr val="tx1"/>
                  </a:solidFill>
                  <a:latin typeface="AzbukaVkusa" panose="02000000000000000000" pitchFamily="50" charset="0"/>
                </a:rPr>
                <a:t>Создание нового стандарта для деятельности сборщиков</a:t>
              </a:r>
            </a:p>
          </p:txBody>
        </p:sp>
        <p:sp>
          <p:nvSpPr>
            <p:cNvPr id="47" name="Скругленный прямоугольник 127">
              <a:extLst>
                <a:ext uri="{FF2B5EF4-FFF2-40B4-BE49-F238E27FC236}">
                  <a16:creationId xmlns:a16="http://schemas.microsoft.com/office/drawing/2014/main" id="{BF82B4C6-3DE1-F957-60E3-0CCE6AC706F1}"/>
                </a:ext>
              </a:extLst>
            </p:cNvPr>
            <p:cNvSpPr/>
            <p:nvPr/>
          </p:nvSpPr>
          <p:spPr>
            <a:xfrm>
              <a:off x="688174" y="4960296"/>
              <a:ext cx="1840264" cy="276998"/>
            </a:xfrm>
            <a:prstGeom prst="roundRect">
              <a:avLst>
                <a:gd name="adj" fmla="val 2527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700" dirty="0">
                <a:solidFill>
                  <a:schemeClr val="tx1"/>
                </a:solidFill>
                <a:latin typeface="AzbukaVkusa" panose="02000000000000000000" pitchFamily="50" charset="0"/>
              </a:endParaRPr>
            </a:p>
          </p:txBody>
        </p:sp>
        <p:sp>
          <p:nvSpPr>
            <p:cNvPr id="48" name="Скругленный прямоугольник 127">
              <a:extLst>
                <a:ext uri="{FF2B5EF4-FFF2-40B4-BE49-F238E27FC236}">
                  <a16:creationId xmlns:a16="http://schemas.microsoft.com/office/drawing/2014/main" id="{978FA88F-2FF7-D039-7346-5B7BB7AC7B52}"/>
                </a:ext>
              </a:extLst>
            </p:cNvPr>
            <p:cNvSpPr/>
            <p:nvPr/>
          </p:nvSpPr>
          <p:spPr>
            <a:xfrm>
              <a:off x="688174" y="4982603"/>
              <a:ext cx="1840264" cy="276998"/>
            </a:xfrm>
            <a:prstGeom prst="roundRect">
              <a:avLst>
                <a:gd name="adj" fmla="val 2527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700" dirty="0">
                  <a:solidFill>
                    <a:schemeClr val="tx1"/>
                  </a:solidFill>
                  <a:latin typeface="AzbukaVkusa" panose="02000000000000000000" pitchFamily="50" charset="0"/>
                </a:rPr>
                <a:t>Обучение сборщиков новому стандарту</a:t>
              </a:r>
            </a:p>
          </p:txBody>
        </p: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AD557FAE-5A43-50E6-FF9A-30D90CFCC2A4}"/>
              </a:ext>
            </a:extLst>
          </p:cNvPr>
          <p:cNvGrpSpPr/>
          <p:nvPr/>
        </p:nvGrpSpPr>
        <p:grpSpPr>
          <a:xfrm>
            <a:off x="322430" y="3369538"/>
            <a:ext cx="2164430" cy="980878"/>
            <a:chOff x="323641" y="5327504"/>
            <a:chExt cx="2164430" cy="980878"/>
          </a:xfrm>
        </p:grpSpPr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61C0B047-85D2-85F1-40B0-19A702D6E558}"/>
                </a:ext>
              </a:extLst>
            </p:cNvPr>
            <p:cNvGrpSpPr/>
            <p:nvPr/>
          </p:nvGrpSpPr>
          <p:grpSpPr>
            <a:xfrm>
              <a:off x="500507" y="5327504"/>
              <a:ext cx="132610" cy="980878"/>
              <a:chOff x="506294" y="3619498"/>
              <a:chExt cx="126658" cy="1784429"/>
            </a:xfrm>
          </p:grpSpPr>
          <p:cxnSp>
            <p:nvCxnSpPr>
              <p:cNvPr id="58" name="Прямая соединительная линия 57">
                <a:extLst>
                  <a:ext uri="{FF2B5EF4-FFF2-40B4-BE49-F238E27FC236}">
                    <a16:creationId xmlns:a16="http://schemas.microsoft.com/office/drawing/2014/main" id="{F2E6492F-927A-275C-639D-770A368FF45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08533" y="5400772"/>
                <a:ext cx="124419" cy="3155"/>
              </a:xfrm>
              <a:prstGeom prst="line">
                <a:avLst/>
              </a:prstGeom>
              <a:ln w="12700">
                <a:solidFill>
                  <a:srgbClr val="095F4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Прямая соединительная линия 58">
                <a:extLst>
                  <a:ext uri="{FF2B5EF4-FFF2-40B4-BE49-F238E27FC236}">
                    <a16:creationId xmlns:a16="http://schemas.microsoft.com/office/drawing/2014/main" id="{2AB44515-3786-CC7C-E82F-039B992161C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06294" y="3619498"/>
                <a:ext cx="124419" cy="3155"/>
              </a:xfrm>
              <a:prstGeom prst="line">
                <a:avLst/>
              </a:prstGeom>
              <a:ln w="12700">
                <a:solidFill>
                  <a:srgbClr val="095F4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Прямая соединительная линия 59">
                <a:extLst>
                  <a:ext uri="{FF2B5EF4-FFF2-40B4-BE49-F238E27FC236}">
                    <a16:creationId xmlns:a16="http://schemas.microsoft.com/office/drawing/2014/main" id="{E2F9E613-0635-2E9E-5F90-B7E9E50E88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109" y="3619498"/>
                <a:ext cx="0" cy="1781274"/>
              </a:xfrm>
              <a:prstGeom prst="line">
                <a:avLst/>
              </a:prstGeom>
              <a:ln w="12700">
                <a:solidFill>
                  <a:srgbClr val="095F4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30DAD2-79D3-10AD-62A6-85714FD3A2EB}"/>
                </a:ext>
              </a:extLst>
            </p:cNvPr>
            <p:cNvSpPr txBox="1"/>
            <p:nvPr/>
          </p:nvSpPr>
          <p:spPr>
            <a:xfrm rot="16200000">
              <a:off x="82870" y="5616865"/>
              <a:ext cx="68159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700" dirty="0">
                  <a:solidFill>
                    <a:srgbClr val="095F42"/>
                  </a:solidFill>
                  <a:latin typeface="AzbukaVkusa" panose="02000000000000000000" pitchFamily="50" charset="0"/>
                </a:rPr>
                <a:t>Новые ТСД</a:t>
              </a:r>
            </a:p>
          </p:txBody>
        </p:sp>
        <p:sp>
          <p:nvSpPr>
            <p:cNvPr id="55" name="Скругленный прямоугольник 127">
              <a:extLst>
                <a:ext uri="{FF2B5EF4-FFF2-40B4-BE49-F238E27FC236}">
                  <a16:creationId xmlns:a16="http://schemas.microsoft.com/office/drawing/2014/main" id="{6F52012C-C625-B13E-9B65-755F24F91595}"/>
                </a:ext>
              </a:extLst>
            </p:cNvPr>
            <p:cNvSpPr/>
            <p:nvPr/>
          </p:nvSpPr>
          <p:spPr>
            <a:xfrm>
              <a:off x="647807" y="5328371"/>
              <a:ext cx="1840264" cy="276998"/>
            </a:xfrm>
            <a:prstGeom prst="roundRect">
              <a:avLst>
                <a:gd name="adj" fmla="val 2527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700" dirty="0">
                  <a:solidFill>
                    <a:schemeClr val="tx1"/>
                  </a:solidFill>
                  <a:latin typeface="AzbukaVkusa" panose="02000000000000000000" pitchFamily="50" charset="0"/>
                </a:rPr>
                <a:t>Покупка нового оборудования</a:t>
              </a:r>
            </a:p>
          </p:txBody>
        </p:sp>
        <p:sp>
          <p:nvSpPr>
            <p:cNvPr id="56" name="Скругленный прямоугольник 127">
              <a:extLst>
                <a:ext uri="{FF2B5EF4-FFF2-40B4-BE49-F238E27FC236}">
                  <a16:creationId xmlns:a16="http://schemas.microsoft.com/office/drawing/2014/main" id="{9A336735-55BC-02CB-06C0-8A83C8B26420}"/>
                </a:ext>
              </a:extLst>
            </p:cNvPr>
            <p:cNvSpPr/>
            <p:nvPr/>
          </p:nvSpPr>
          <p:spPr>
            <a:xfrm>
              <a:off x="644632" y="5655914"/>
              <a:ext cx="1840264" cy="276998"/>
            </a:xfrm>
            <a:prstGeom prst="roundRect">
              <a:avLst>
                <a:gd name="adj" fmla="val 2527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700" dirty="0">
                  <a:solidFill>
                    <a:schemeClr val="tx1"/>
                  </a:solidFill>
                  <a:latin typeface="AzbukaVkusa" panose="02000000000000000000" pitchFamily="50" charset="0"/>
                </a:rPr>
                <a:t>Тестирование обновленного </a:t>
              </a:r>
              <a:r>
                <a:rPr lang="en-US" sz="700" dirty="0">
                  <a:solidFill>
                    <a:schemeClr val="tx1"/>
                  </a:solidFill>
                  <a:latin typeface="AzbukaVkusa" panose="02000000000000000000" pitchFamily="50" charset="0"/>
                </a:rPr>
                <a:t>RDP</a:t>
              </a:r>
              <a:endParaRPr lang="ru-RU" sz="700" dirty="0">
                <a:solidFill>
                  <a:schemeClr val="tx1"/>
                </a:solidFill>
                <a:latin typeface="AzbukaVkusa" panose="02000000000000000000" pitchFamily="50" charset="0"/>
              </a:endParaRPr>
            </a:p>
          </p:txBody>
        </p:sp>
        <p:sp>
          <p:nvSpPr>
            <p:cNvPr id="57" name="Скругленный прямоугольник 127">
              <a:extLst>
                <a:ext uri="{FF2B5EF4-FFF2-40B4-BE49-F238E27FC236}">
                  <a16:creationId xmlns:a16="http://schemas.microsoft.com/office/drawing/2014/main" id="{4CAAEAFB-DC0D-718B-8E81-690C4FA86A3B}"/>
                </a:ext>
              </a:extLst>
            </p:cNvPr>
            <p:cNvSpPr/>
            <p:nvPr/>
          </p:nvSpPr>
          <p:spPr>
            <a:xfrm>
              <a:off x="647807" y="6014434"/>
              <a:ext cx="1840264" cy="276998"/>
            </a:xfrm>
            <a:prstGeom prst="roundRect">
              <a:avLst>
                <a:gd name="adj" fmla="val 2527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700" dirty="0">
                  <a:solidFill>
                    <a:schemeClr val="tx1"/>
                  </a:solidFill>
                  <a:latin typeface="AzbukaVkusa" panose="02000000000000000000" pitchFamily="50" charset="0"/>
                </a:rPr>
                <a:t>Внедрение новых ТСД в филиалы магазинов</a:t>
              </a:r>
            </a:p>
          </p:txBody>
        </p:sp>
      </p:grp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1972C03F-5F6A-256D-B6D6-5D9713C6C128}"/>
              </a:ext>
            </a:extLst>
          </p:cNvPr>
          <p:cNvCxnSpPr>
            <a:cxnSpLocks/>
          </p:cNvCxnSpPr>
          <p:nvPr/>
        </p:nvCxnSpPr>
        <p:spPr>
          <a:xfrm flipV="1">
            <a:off x="696764" y="6096513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9F7241BC-A26D-DE22-35EC-91E5FA8F5B8A}"/>
              </a:ext>
            </a:extLst>
          </p:cNvPr>
          <p:cNvCxnSpPr>
            <a:cxnSpLocks/>
          </p:cNvCxnSpPr>
          <p:nvPr/>
        </p:nvCxnSpPr>
        <p:spPr>
          <a:xfrm flipV="1">
            <a:off x="714182" y="1620970"/>
            <a:ext cx="79928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Прямоугольник: скругленные углы 2129">
            <a:extLst>
              <a:ext uri="{FF2B5EF4-FFF2-40B4-BE49-F238E27FC236}">
                <a16:creationId xmlns:a16="http://schemas.microsoft.com/office/drawing/2014/main" id="{05834606-68C4-10A2-4EBD-47923C0B85DE}"/>
              </a:ext>
            </a:extLst>
          </p:cNvPr>
          <p:cNvSpPr/>
          <p:nvPr/>
        </p:nvSpPr>
        <p:spPr>
          <a:xfrm>
            <a:off x="2542519" y="1662084"/>
            <a:ext cx="1205245" cy="234621"/>
          </a:xfrm>
          <a:prstGeom prst="roundRect">
            <a:avLst/>
          </a:prstGeom>
          <a:solidFill>
            <a:srgbClr val="074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8" name="Прямоугольник: скругленные углы 2130">
            <a:extLst>
              <a:ext uri="{FF2B5EF4-FFF2-40B4-BE49-F238E27FC236}">
                <a16:creationId xmlns:a16="http://schemas.microsoft.com/office/drawing/2014/main" id="{A32EA5E4-21DA-06B0-C332-7F5A98CBACD9}"/>
              </a:ext>
            </a:extLst>
          </p:cNvPr>
          <p:cNvSpPr/>
          <p:nvPr/>
        </p:nvSpPr>
        <p:spPr>
          <a:xfrm>
            <a:off x="2891503" y="1986974"/>
            <a:ext cx="1186584" cy="234621"/>
          </a:xfrm>
          <a:prstGeom prst="roundRect">
            <a:avLst/>
          </a:prstGeom>
          <a:solidFill>
            <a:srgbClr val="074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9" name="Прямоугольник: скругленные углы 2131">
            <a:extLst>
              <a:ext uri="{FF2B5EF4-FFF2-40B4-BE49-F238E27FC236}">
                <a16:creationId xmlns:a16="http://schemas.microsoft.com/office/drawing/2014/main" id="{95879C29-D8FE-1844-EDB5-21E1A1519A99}"/>
              </a:ext>
            </a:extLst>
          </p:cNvPr>
          <p:cNvSpPr/>
          <p:nvPr/>
        </p:nvSpPr>
        <p:spPr>
          <a:xfrm>
            <a:off x="3239071" y="2327660"/>
            <a:ext cx="1226249" cy="234621"/>
          </a:xfrm>
          <a:prstGeom prst="roundRect">
            <a:avLst/>
          </a:prstGeom>
          <a:solidFill>
            <a:srgbClr val="074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51" name="Прямоугольник: скругленные углы 2132">
            <a:extLst>
              <a:ext uri="{FF2B5EF4-FFF2-40B4-BE49-F238E27FC236}">
                <a16:creationId xmlns:a16="http://schemas.microsoft.com/office/drawing/2014/main" id="{58B7FC09-85F3-D165-DAF5-AE1FBD1CC1E8}"/>
              </a:ext>
            </a:extLst>
          </p:cNvPr>
          <p:cNvSpPr/>
          <p:nvPr/>
        </p:nvSpPr>
        <p:spPr>
          <a:xfrm>
            <a:off x="4208272" y="2691717"/>
            <a:ext cx="734567" cy="234621"/>
          </a:xfrm>
          <a:prstGeom prst="roundRect">
            <a:avLst/>
          </a:prstGeom>
          <a:solidFill>
            <a:srgbClr val="074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52" name="Прямоугольник: скругленные углы 2133">
            <a:extLst>
              <a:ext uri="{FF2B5EF4-FFF2-40B4-BE49-F238E27FC236}">
                <a16:creationId xmlns:a16="http://schemas.microsoft.com/office/drawing/2014/main" id="{D4766116-5930-FF04-E9B1-2860FE68FAE6}"/>
              </a:ext>
            </a:extLst>
          </p:cNvPr>
          <p:cNvSpPr/>
          <p:nvPr/>
        </p:nvSpPr>
        <p:spPr>
          <a:xfrm>
            <a:off x="4938749" y="3042017"/>
            <a:ext cx="1038716" cy="245126"/>
          </a:xfrm>
          <a:prstGeom prst="roundRect">
            <a:avLst/>
          </a:prstGeom>
          <a:solidFill>
            <a:srgbClr val="074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53" name="Прямоугольник: скругленные углы 2134">
            <a:extLst>
              <a:ext uri="{FF2B5EF4-FFF2-40B4-BE49-F238E27FC236}">
                <a16:creationId xmlns:a16="http://schemas.microsoft.com/office/drawing/2014/main" id="{5F1092D3-DBA6-D34E-B48B-DA51DEBAAF03}"/>
              </a:ext>
            </a:extLst>
          </p:cNvPr>
          <p:cNvSpPr/>
          <p:nvPr/>
        </p:nvSpPr>
        <p:spPr>
          <a:xfrm>
            <a:off x="5451573" y="3368461"/>
            <a:ext cx="817891" cy="234620"/>
          </a:xfrm>
          <a:prstGeom prst="roundRect">
            <a:avLst/>
          </a:prstGeom>
          <a:solidFill>
            <a:srgbClr val="095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C7A55"/>
              </a:solidFill>
            </a:endParaRPr>
          </a:p>
        </p:txBody>
      </p:sp>
      <p:sp>
        <p:nvSpPr>
          <p:cNvPr id="2054" name="Прямоугольник: скругленные углы 2135">
            <a:extLst>
              <a:ext uri="{FF2B5EF4-FFF2-40B4-BE49-F238E27FC236}">
                <a16:creationId xmlns:a16="http://schemas.microsoft.com/office/drawing/2014/main" id="{D3D9B2AA-47D0-BF39-F2C2-6C808E4CE042}"/>
              </a:ext>
            </a:extLst>
          </p:cNvPr>
          <p:cNvSpPr/>
          <p:nvPr/>
        </p:nvSpPr>
        <p:spPr>
          <a:xfrm>
            <a:off x="6252989" y="3731899"/>
            <a:ext cx="1211549" cy="222527"/>
          </a:xfrm>
          <a:prstGeom prst="roundRect">
            <a:avLst/>
          </a:prstGeom>
          <a:solidFill>
            <a:srgbClr val="095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C7A55"/>
              </a:solidFill>
            </a:endParaRPr>
          </a:p>
        </p:txBody>
      </p:sp>
      <p:sp>
        <p:nvSpPr>
          <p:cNvPr id="2055" name="Прямоугольник: скругленные углы 2136">
            <a:extLst>
              <a:ext uri="{FF2B5EF4-FFF2-40B4-BE49-F238E27FC236}">
                <a16:creationId xmlns:a16="http://schemas.microsoft.com/office/drawing/2014/main" id="{EB552F1D-3F42-8B35-0606-5551BE38C95C}"/>
              </a:ext>
            </a:extLst>
          </p:cNvPr>
          <p:cNvSpPr/>
          <p:nvPr/>
        </p:nvSpPr>
        <p:spPr>
          <a:xfrm>
            <a:off x="7464538" y="4098000"/>
            <a:ext cx="304800" cy="234621"/>
          </a:xfrm>
          <a:prstGeom prst="roundRect">
            <a:avLst/>
          </a:prstGeom>
          <a:solidFill>
            <a:srgbClr val="095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C7A55"/>
              </a:solidFill>
            </a:endParaRPr>
          </a:p>
        </p:txBody>
      </p:sp>
      <p:sp>
        <p:nvSpPr>
          <p:cNvPr id="2056" name="Прямоугольник: скругленные углы 2137">
            <a:extLst>
              <a:ext uri="{FF2B5EF4-FFF2-40B4-BE49-F238E27FC236}">
                <a16:creationId xmlns:a16="http://schemas.microsoft.com/office/drawing/2014/main" id="{28944613-74D2-3C6F-94A1-9512EBA0002E}"/>
              </a:ext>
            </a:extLst>
          </p:cNvPr>
          <p:cNvSpPr/>
          <p:nvPr/>
        </p:nvSpPr>
        <p:spPr>
          <a:xfrm>
            <a:off x="4938748" y="4448870"/>
            <a:ext cx="1707583" cy="235165"/>
          </a:xfrm>
          <a:prstGeom prst="roundRect">
            <a:avLst/>
          </a:prstGeom>
          <a:solidFill>
            <a:srgbClr val="0C7A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C7A55"/>
              </a:solidFill>
            </a:endParaRPr>
          </a:p>
        </p:txBody>
      </p:sp>
      <p:sp>
        <p:nvSpPr>
          <p:cNvPr id="2057" name="Прямоугольник: скругленные углы 2138">
            <a:extLst>
              <a:ext uri="{FF2B5EF4-FFF2-40B4-BE49-F238E27FC236}">
                <a16:creationId xmlns:a16="http://schemas.microsoft.com/office/drawing/2014/main" id="{9EBE1CD4-6142-85DF-AE9F-06FF8DEFC47A}"/>
              </a:ext>
            </a:extLst>
          </p:cNvPr>
          <p:cNvSpPr/>
          <p:nvPr/>
        </p:nvSpPr>
        <p:spPr>
          <a:xfrm>
            <a:off x="6632938" y="4789504"/>
            <a:ext cx="1053628" cy="233380"/>
          </a:xfrm>
          <a:prstGeom prst="roundRect">
            <a:avLst/>
          </a:prstGeom>
          <a:solidFill>
            <a:srgbClr val="0C7A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C7A55"/>
              </a:solidFill>
            </a:endParaRPr>
          </a:p>
        </p:txBody>
      </p:sp>
      <p:sp>
        <p:nvSpPr>
          <p:cNvPr id="2058" name="Прямоугольник: скругленные углы 2139">
            <a:extLst>
              <a:ext uri="{FF2B5EF4-FFF2-40B4-BE49-F238E27FC236}">
                <a16:creationId xmlns:a16="http://schemas.microsoft.com/office/drawing/2014/main" id="{0746F7B8-53FE-B34C-354F-B0893A311822}"/>
              </a:ext>
            </a:extLst>
          </p:cNvPr>
          <p:cNvSpPr/>
          <p:nvPr/>
        </p:nvSpPr>
        <p:spPr>
          <a:xfrm>
            <a:off x="7686566" y="5163388"/>
            <a:ext cx="304802" cy="209165"/>
          </a:xfrm>
          <a:prstGeom prst="roundRect">
            <a:avLst/>
          </a:prstGeom>
          <a:solidFill>
            <a:srgbClr val="0C7A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C7A55"/>
              </a:solidFill>
            </a:endParaRPr>
          </a:p>
        </p:txBody>
      </p:sp>
      <p:sp>
        <p:nvSpPr>
          <p:cNvPr id="2059" name="Прямоугольник: скругленные углы 2140">
            <a:extLst>
              <a:ext uri="{FF2B5EF4-FFF2-40B4-BE49-F238E27FC236}">
                <a16:creationId xmlns:a16="http://schemas.microsoft.com/office/drawing/2014/main" id="{17A6F160-62B6-8B69-23A8-A51F21F74D75}"/>
              </a:ext>
            </a:extLst>
          </p:cNvPr>
          <p:cNvSpPr/>
          <p:nvPr/>
        </p:nvSpPr>
        <p:spPr>
          <a:xfrm>
            <a:off x="6637450" y="5496335"/>
            <a:ext cx="1046161" cy="215089"/>
          </a:xfrm>
          <a:prstGeom prst="roundRect">
            <a:avLst/>
          </a:prstGeom>
          <a:solidFill>
            <a:srgbClr val="14CA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C7A55"/>
              </a:solidFill>
            </a:endParaRPr>
          </a:p>
        </p:txBody>
      </p:sp>
      <p:sp>
        <p:nvSpPr>
          <p:cNvPr id="2060" name="Прямоугольник: скругленные углы 2141">
            <a:extLst>
              <a:ext uri="{FF2B5EF4-FFF2-40B4-BE49-F238E27FC236}">
                <a16:creationId xmlns:a16="http://schemas.microsoft.com/office/drawing/2014/main" id="{07756016-024B-66D7-5D09-A216FA169775}"/>
              </a:ext>
            </a:extLst>
          </p:cNvPr>
          <p:cNvSpPr/>
          <p:nvPr/>
        </p:nvSpPr>
        <p:spPr>
          <a:xfrm>
            <a:off x="7683610" y="5833094"/>
            <a:ext cx="1000849" cy="203342"/>
          </a:xfrm>
          <a:prstGeom prst="roundRect">
            <a:avLst/>
          </a:prstGeom>
          <a:solidFill>
            <a:srgbClr val="14CA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C7A55"/>
              </a:solidFill>
            </a:endParaRP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D4E150C8-FDAA-ECCC-FEBC-3C9661857851}"/>
              </a:ext>
            </a:extLst>
          </p:cNvPr>
          <p:cNvSpPr txBox="1"/>
          <p:nvPr/>
        </p:nvSpPr>
        <p:spPr>
          <a:xfrm>
            <a:off x="9115879" y="1222722"/>
            <a:ext cx="2486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AzbukaVkusa" panose="02000000000000000000" pitchFamily="50" charset="0"/>
              </a:rPr>
              <a:t>Эффект реализации стратегии</a:t>
            </a:r>
          </a:p>
        </p:txBody>
      </p:sp>
      <p:sp>
        <p:nvSpPr>
          <p:cNvPr id="2062" name="Треугольник 174">
            <a:extLst>
              <a:ext uri="{FF2B5EF4-FFF2-40B4-BE49-F238E27FC236}">
                <a16:creationId xmlns:a16="http://schemas.microsoft.com/office/drawing/2014/main" id="{77AB0861-4B8A-80AE-AAF1-DEFE6C16ED35}"/>
              </a:ext>
            </a:extLst>
          </p:cNvPr>
          <p:cNvSpPr/>
          <p:nvPr/>
        </p:nvSpPr>
        <p:spPr>
          <a:xfrm rot="5400000">
            <a:off x="6579816" y="3607082"/>
            <a:ext cx="4921395" cy="255315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63" name="TextBox 2062">
            <a:extLst>
              <a:ext uri="{FF2B5EF4-FFF2-40B4-BE49-F238E27FC236}">
                <a16:creationId xmlns:a16="http://schemas.microsoft.com/office/drawing/2014/main" id="{765072CA-B554-43AE-B049-3B21F4FCC342}"/>
              </a:ext>
            </a:extLst>
          </p:cNvPr>
          <p:cNvSpPr txBox="1"/>
          <p:nvPr/>
        </p:nvSpPr>
        <p:spPr>
          <a:xfrm>
            <a:off x="242889" y="6324189"/>
            <a:ext cx="17508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Источники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: 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Анализ команды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.</a:t>
            </a:r>
            <a:endParaRPr lang="ru-RU" sz="900" dirty="0">
              <a:solidFill>
                <a:schemeClr val="bg1">
                  <a:lumMod val="50000"/>
                </a:schemeClr>
              </a:solidFill>
              <a:latin typeface="AzbukaVkusa Light" panose="02000000000000000000" pitchFamily="2" charset="0"/>
            </a:endParaRPr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32090A9C-0540-D1DB-EA11-A070D41A0D87}"/>
              </a:ext>
            </a:extLst>
          </p:cNvPr>
          <p:cNvSpPr txBox="1"/>
          <p:nvPr/>
        </p:nvSpPr>
        <p:spPr>
          <a:xfrm>
            <a:off x="242890" y="577850"/>
            <a:ext cx="11608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zbukaVkusa" panose="02000000000000000000" pitchFamily="2" charset="0"/>
              </a:rPr>
              <a:t>Внедрение инициатив займет 4 месяца</a:t>
            </a:r>
            <a:r>
              <a:rPr lang="en-US" sz="1600" dirty="0">
                <a:latin typeface="AzbukaVkusa" panose="02000000000000000000" pitchFamily="2" charset="0"/>
              </a:rPr>
              <a:t>. </a:t>
            </a:r>
            <a:r>
              <a:rPr lang="ru-RU" sz="1600" dirty="0">
                <a:latin typeface="AzbukaVkusa" panose="02000000000000000000" pitchFamily="2" charset="0"/>
              </a:rPr>
              <a:t>Для реализации стратегии потребуется вовлечение команды операций АВ и разработчиков</a:t>
            </a:r>
            <a:r>
              <a:rPr lang="en-US" sz="1600" dirty="0">
                <a:latin typeface="AzbukaVkusa" panose="02000000000000000000" pitchFamily="2" charset="0"/>
              </a:rPr>
              <a:t>. </a:t>
            </a:r>
            <a:r>
              <a:rPr lang="ru-RU" sz="1600" dirty="0">
                <a:latin typeface="AzbukaVkusa" panose="02000000000000000000" pitchFamily="2" charset="0"/>
              </a:rPr>
              <a:t>Благодаря улучшениям операционные метрики вырастут на 10</a:t>
            </a:r>
            <a:r>
              <a:rPr lang="en-US" sz="1600" dirty="0">
                <a:latin typeface="AzbukaVkusa" panose="02000000000000000000" pitchFamily="2" charset="0"/>
              </a:rPr>
              <a:t>% </a:t>
            </a:r>
            <a:r>
              <a:rPr lang="ru-RU" sz="1600" dirty="0">
                <a:latin typeface="AzbukaVkusa" panose="02000000000000000000" pitchFamily="2" charset="0"/>
              </a:rPr>
              <a:t>каждая</a:t>
            </a:r>
            <a:r>
              <a:rPr lang="en-US" sz="1600" dirty="0">
                <a:latin typeface="AzbukaVkusa" panose="02000000000000000000" pitchFamily="2" charset="0"/>
              </a:rPr>
              <a:t> </a:t>
            </a:r>
            <a:r>
              <a:rPr lang="ru-RU" sz="1600" dirty="0">
                <a:latin typeface="AzbukaVkusa" panose="02000000000000000000" pitchFamily="2" charset="0"/>
              </a:rPr>
              <a:t>и увеличат метрики </a:t>
            </a:r>
            <a:r>
              <a:rPr lang="en-US" sz="1600" dirty="0">
                <a:latin typeface="AzbukaVkusa" panose="02000000000000000000" pitchFamily="2" charset="0"/>
              </a:rPr>
              <a:t>UX.</a:t>
            </a:r>
            <a:endParaRPr lang="ru-RU" sz="1600" dirty="0">
              <a:latin typeface="AzbukaVkusa" panose="02000000000000000000" pitchFamily="2" charset="0"/>
            </a:endParaRPr>
          </a:p>
        </p:txBody>
      </p:sp>
      <p:graphicFrame>
        <p:nvGraphicFramePr>
          <p:cNvPr id="2065" name="Chart 2">
            <a:extLst>
              <a:ext uri="{FF2B5EF4-FFF2-40B4-BE49-F238E27FC236}">
                <a16:creationId xmlns:a16="http://schemas.microsoft.com/office/drawing/2014/main" id="{9551DDB1-B171-E61C-FCE4-7D20D5447BE6}"/>
              </a:ext>
            </a:extLst>
          </p:cNvPr>
          <p:cNvGraphicFramePr>
            <a:graphicFrameLocks/>
          </p:cNvGraphicFramePr>
          <p:nvPr/>
        </p:nvGraphicFramePr>
        <p:xfrm>
          <a:off x="9194349" y="1539536"/>
          <a:ext cx="2617214" cy="2793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82048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AzbukaVkusa</vt:lpstr>
      <vt:lpstr>AzbukaVkusa Light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</cp:revision>
  <dcterms:created xsi:type="dcterms:W3CDTF">2026-04-03T09:25:44Z</dcterms:created>
  <dcterms:modified xsi:type="dcterms:W3CDTF">2026-04-03T09:26:02Z</dcterms:modified>
</cp:coreProperties>
</file>
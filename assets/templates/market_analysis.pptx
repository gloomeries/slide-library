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6"/>
  </p:normalViewPr>
  <p:slideViewPr>
    <p:cSldViewPr snapToGrid="0" showGuides="1">
      <p:cViewPr varScale="1">
        <p:scale>
          <a:sx n="107" d="100"/>
          <a:sy n="107" d="100"/>
        </p:scale>
        <p:origin x="6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C41D1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A Stetica" panose="02000503030000020004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416</c:v>
                </c:pt>
                <c:pt idx="1">
                  <c:v>474</c:v>
                </c:pt>
                <c:pt idx="2">
                  <c:v>528</c:v>
                </c:pt>
                <c:pt idx="3">
                  <c:v>572</c:v>
                </c:pt>
                <c:pt idx="4">
                  <c:v>591</c:v>
                </c:pt>
                <c:pt idx="5">
                  <c:v>774</c:v>
                </c:pt>
                <c:pt idx="6">
                  <c:v>909</c:v>
                </c:pt>
                <c:pt idx="7">
                  <c:v>867</c:v>
                </c:pt>
                <c:pt idx="8">
                  <c:v>1092</c:v>
                </c:pt>
                <c:pt idx="9">
                  <c:v>1219</c:v>
                </c:pt>
                <c:pt idx="10">
                  <c:v>1405</c:v>
                </c:pt>
                <c:pt idx="11">
                  <c:v>1600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2-A146-B1DE-24688E20C4D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7"/>
        <c:overlap val="-27"/>
        <c:axId val="1099185440"/>
        <c:axId val="1242400336"/>
      </c:barChart>
      <c:catAx>
        <c:axId val="109918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A Stetica" panose="02000503030000020004" pitchFamily="2" charset="0"/>
                <a:ea typeface="+mn-ea"/>
                <a:cs typeface="+mn-cs"/>
              </a:defRPr>
            </a:pPr>
            <a:endParaRPr lang="ru-RU"/>
          </a:p>
        </c:txPr>
        <c:crossAx val="1242400336"/>
        <c:crosses val="autoZero"/>
        <c:auto val="1"/>
        <c:lblAlgn val="ctr"/>
        <c:lblOffset val="100"/>
        <c:noMultiLvlLbl val="0"/>
      </c:catAx>
      <c:valAx>
        <c:axId val="12424003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99185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C41D1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AA Stetica" panose="02000503030000020004" pitchFamily="2" charset="0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Лист1!$A$2:$A$4</c:f>
              <c:strCache>
                <c:ptCount val="3"/>
                <c:pt idx="0">
                  <c:v>Неврология</c:v>
                </c:pt>
                <c:pt idx="1">
                  <c:v>Стоматология</c:v>
                </c:pt>
                <c:pt idx="2">
                  <c:v>Анализы</c:v>
                </c:pt>
              </c:strCache>
            </c:strRef>
          </c:cat>
          <c:val>
            <c:numRef>
              <c:f>Лист1!$B$2:$B$4</c:f>
              <c:numCache>
                <c:formatCode>0%</c:formatCode>
                <c:ptCount val="3"/>
                <c:pt idx="0">
                  <c:v>0.08</c:v>
                </c:pt>
                <c:pt idx="1">
                  <c:v>0.13</c:v>
                </c:pt>
                <c:pt idx="2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3D-3E45-800B-9D5B1A99BA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4"/>
        <c:axId val="1728829984"/>
        <c:axId val="1728572992"/>
      </c:barChart>
      <c:catAx>
        <c:axId val="1728829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A Stetica" panose="02000503030000020004" pitchFamily="2" charset="0"/>
                <a:ea typeface="+mn-ea"/>
                <a:cs typeface="+mn-cs"/>
              </a:defRPr>
            </a:pPr>
            <a:endParaRPr lang="ru-RU"/>
          </a:p>
        </c:txPr>
        <c:crossAx val="1728572992"/>
        <c:crosses val="autoZero"/>
        <c:auto val="1"/>
        <c:lblAlgn val="ctr"/>
        <c:lblOffset val="100"/>
        <c:noMultiLvlLbl val="0"/>
      </c:catAx>
      <c:valAx>
        <c:axId val="1728572992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728829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04590-0A50-7340-A664-050AC8860A9D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8C78C1-2F6E-0C49-9420-CB5D2F88821D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2816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2AD11-4A0F-6D4A-8AF1-C6CF5692D3A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9010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8BD3E-7DD4-8AB1-882E-14E2F8AC5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403762-5963-5A28-52A1-236C895D0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CA03B-D0EC-9A4F-4821-3E5735BD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667E1-4D29-384D-D155-3FF0A4E4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9E61-0FFB-65A5-7E38-57F317B44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444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AD52C-A184-FB52-E545-B205F26B3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11101-E0DB-BF43-DC1D-F1B175F6B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4C6DE3-4E90-45AA-AFFD-F917C6143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2E188-592D-E0F2-4186-8565760EA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547B7-6610-8021-C0E9-D53247F3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0027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35DEC-D6C3-BC5B-E0C2-43571B316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DFDC7-3C60-649E-53A6-1FF18C561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BBA69-4D96-603A-064D-9DAEC0C2F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6C9A9-79CC-08C9-83F4-5525CFBF1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98B6F-08A1-ED69-25DF-ACD088037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0797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3A92-449B-E1C3-E62C-158DFF9A4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A5A56-DB55-DFBB-35BA-944EB45E5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F193B-C21D-A768-4893-09E51FD38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F94B4-BBC2-1BA7-D801-732B75B0D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72DDF-1248-1780-BFD9-332B4F0A5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7E8AA-4ADE-071D-0018-48990D41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56359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387C-41A2-0AD4-8746-755F4647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898C1-AE7F-82DB-4B89-5AF1D10FE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8F45E-E79F-6EC5-84FF-76565F3D9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DA936-F1B7-2172-7A3E-9FC6C82EB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3B321B-31C3-1CD8-E55C-98523C39B5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979152-9EEC-14A7-D667-E4A19DABF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4E5F7-D015-D53E-3348-ED00F4B6F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4AEC42-4967-D272-B200-AAF19466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14516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C6891-BBB5-6DBA-2A5E-B558845BF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A9DAB-C6F9-7FDB-B569-90BBFF4E5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B6305-F543-DEB7-EE77-AF588BA1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A27F6-B721-382C-5545-4FB587176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65844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BEEF4-DD4E-8215-345E-FAD6D47DF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40AD2-8644-7146-A2D3-1FB493279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91305-7D17-44C1-4D3B-B2401A0C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620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6769-1030-0960-47AA-CB7EF3470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E8A11-0394-42A9-AC26-2D17C7484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30B6B-5CDA-BDAD-27C5-D25896F8F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365620-2182-954A-2DA4-1C0B3075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1409B2-6001-EA7E-49B1-9B6144613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F1BEC-E50C-84FC-F6E5-628AF8AF1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2258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8290C-11C9-BB97-98E5-E83927C77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6CA2A2-56E0-2FA9-D8DC-2B011B048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E0015-7B5F-E098-F1E5-8CAA6ED0E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D126BB-534B-B5A3-FF7A-B047E986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F4D14-ED29-9900-A213-7B52FD10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894DC-A0D8-088C-A7C7-267BCB356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8689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BA75-E0E7-8EFB-9133-06FD66CF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ADE68-8ED0-BC41-6CAC-F4CB45AB8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A6303-1CB8-5ED4-82F2-67D31EE99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81F5A-560E-441D-0F48-9108DFDB8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08952-C3F6-3E73-400F-F4F4538B2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11743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16BCB-9881-D1DD-46C8-95CD5A2E48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78E92-44B9-5B97-9430-1FF933681E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836C-410F-A04C-6276-C0B227E54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D8F60-655C-DC57-E71B-EDDFD443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BEE81-B2F0-BDFD-C7F6-15C08899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45797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6887FD-E450-88DB-16E6-08BA0D3B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52BF6-0E0B-C811-D8B8-69E487A60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D747B-D493-473B-2B1E-C6305CAD7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F7263-3F25-FE4C-9290-774D6E568EE4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BEE56-DEC9-9AF5-DA12-F27409873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1B0C3-6E8C-CD8C-6BA1-9086D44D8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17CC5-7138-364C-B672-33C0B9B5D53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3700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513DC53-EB17-B0D3-807B-64BBB63C9A7C}"/>
              </a:ext>
            </a:extLst>
          </p:cNvPr>
          <p:cNvSpPr/>
          <p:nvPr/>
        </p:nvSpPr>
        <p:spPr>
          <a:xfrm>
            <a:off x="334963" y="262468"/>
            <a:ext cx="1595437" cy="286808"/>
          </a:xfrm>
          <a:prstGeom prst="rect">
            <a:avLst/>
          </a:prstGeom>
          <a:solidFill>
            <a:srgbClr val="C41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AA Stetica Medium" panose="02000503030000020004" pitchFamily="2" charset="0"/>
              </a:rPr>
              <a:t>Анализ рынка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44E47-7085-7EDA-83A1-C8E468EFD469}"/>
              </a:ext>
            </a:extLst>
          </p:cNvPr>
          <p:cNvSpPr txBox="1"/>
          <p:nvPr/>
        </p:nvSpPr>
        <p:spPr>
          <a:xfrm>
            <a:off x="229118" y="609707"/>
            <a:ext cx="11617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A Stetica Medium" panose="02000503030000020004" pitchFamily="2" charset="0"/>
              </a:rPr>
              <a:t>Рынок платных медицинских услуг в России продолжает расти в среднем 12</a:t>
            </a:r>
            <a:r>
              <a:rPr lang="en-US" sz="1600" dirty="0">
                <a:latin typeface="AA Stetica Medium" panose="02000503030000020004" pitchFamily="2" charset="0"/>
              </a:rPr>
              <a:t>% YOY, </a:t>
            </a:r>
            <a:r>
              <a:rPr lang="ru-RU" sz="1600" dirty="0">
                <a:latin typeface="AA Stetica Medium" panose="02000503030000020004" pitchFamily="2" charset="0"/>
              </a:rPr>
              <a:t>основные драйверы</a:t>
            </a:r>
            <a:br>
              <a:rPr lang="ru-RU" sz="1600" dirty="0">
                <a:latin typeface="AA Stetica Medium" panose="02000503030000020004" pitchFamily="2" charset="0"/>
              </a:rPr>
            </a:br>
            <a:r>
              <a:rPr lang="ru-RU" sz="1600" dirty="0">
                <a:latin typeface="AA Stetica Medium" panose="02000503030000020004" pitchFamily="2" charset="0"/>
              </a:rPr>
              <a:t>— инфляция и рост спроса потребителя</a:t>
            </a:r>
            <a:r>
              <a:rPr lang="en-US" sz="1600" dirty="0">
                <a:latin typeface="AA Stetica Medium" panose="02000503030000020004" pitchFamily="2" charset="0"/>
              </a:rPr>
              <a:t>.</a:t>
            </a:r>
            <a:endParaRPr lang="ru-RU" sz="1600" dirty="0">
              <a:latin typeface="AA Stetica Medium" panose="02000503030000020004" pitchFamily="2" charset="0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06E21E7D-0A60-D683-540D-194C0C5AA3E9}"/>
              </a:ext>
            </a:extLst>
          </p:cNvPr>
          <p:cNvSpPr/>
          <p:nvPr/>
        </p:nvSpPr>
        <p:spPr>
          <a:xfrm>
            <a:off x="7465128" y="1268414"/>
            <a:ext cx="4391909" cy="2328359"/>
          </a:xfrm>
          <a:prstGeom prst="roundRect">
            <a:avLst>
              <a:gd name="adj" fmla="val 3055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0B0A37-06F1-A85B-BEAC-580779C85157}"/>
              </a:ext>
            </a:extLst>
          </p:cNvPr>
          <p:cNvSpPr txBox="1"/>
          <p:nvPr/>
        </p:nvSpPr>
        <p:spPr>
          <a:xfrm>
            <a:off x="233365" y="6230826"/>
            <a:ext cx="3613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Источники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: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РБК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, Kept, Forbes, 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анализ команды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.</a:t>
            </a:r>
            <a:endParaRPr lang="ru-RU" sz="1200" dirty="0">
              <a:solidFill>
                <a:schemeClr val="bg1">
                  <a:lumMod val="50000"/>
                </a:schemeClr>
              </a:solidFill>
              <a:latin typeface="AA Stetica" panose="02000503030000020004" pitchFamily="2" charset="0"/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9484E15C-5C86-7131-4875-6B51F27B079E}"/>
              </a:ext>
            </a:extLst>
          </p:cNvPr>
          <p:cNvSpPr/>
          <p:nvPr/>
        </p:nvSpPr>
        <p:spPr>
          <a:xfrm>
            <a:off x="334963" y="1268414"/>
            <a:ext cx="7012894" cy="4897436"/>
          </a:xfrm>
          <a:prstGeom prst="roundRect">
            <a:avLst>
              <a:gd name="adj" fmla="val 2997"/>
            </a:avLst>
          </a:prstGeom>
          <a:noFill/>
          <a:ln w="19050">
            <a:solidFill>
              <a:srgbClr val="C41D1C">
                <a:alpha val="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5746C4-41A1-A96C-5F1D-C43359E115D5}"/>
              </a:ext>
            </a:extLst>
          </p:cNvPr>
          <p:cNvSpPr txBox="1"/>
          <p:nvPr/>
        </p:nvSpPr>
        <p:spPr>
          <a:xfrm>
            <a:off x="496247" y="1407097"/>
            <a:ext cx="62070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A Stetica Medium" panose="02000503030000020004" pitchFamily="2" charset="0"/>
              </a:rPr>
              <a:t>Объём рынка платных медицинских услуг в России</a:t>
            </a:r>
            <a:r>
              <a:rPr lang="en-US" sz="1400" dirty="0">
                <a:latin typeface="AA Stetica Medium" panose="02000503030000020004" pitchFamily="2" charset="0"/>
              </a:rPr>
              <a:t>,</a:t>
            </a:r>
            <a:r>
              <a:rPr lang="en-US" sz="1400" dirty="0">
                <a:latin typeface="AA Stetica" panose="02000503030000020004" pitchFamily="2" charset="0"/>
              </a:rPr>
              <a:t> </a:t>
            </a:r>
            <a:r>
              <a:rPr lang="ru-RU" sz="1400" dirty="0">
                <a:latin typeface="AA Stetica" panose="02000503030000020004" pitchFamily="2" charset="0"/>
              </a:rPr>
              <a:t>млрд</a:t>
            </a:r>
            <a:r>
              <a:rPr lang="en-US" sz="1400" dirty="0">
                <a:latin typeface="AA Stetica" panose="02000503030000020004" pitchFamily="2" charset="0"/>
              </a:rPr>
              <a:t> </a:t>
            </a:r>
            <a:r>
              <a:rPr lang="en-US" sz="1400" dirty="0" err="1">
                <a:latin typeface="AA Stetica" panose="02000503030000020004" pitchFamily="2" charset="0"/>
              </a:rPr>
              <a:t>р</a:t>
            </a:r>
            <a:r>
              <a:rPr lang="ru-RU" sz="1400" dirty="0" err="1">
                <a:latin typeface="AA Stetica" panose="02000503030000020004" pitchFamily="2" charset="0"/>
              </a:rPr>
              <a:t>уб</a:t>
            </a:r>
            <a:r>
              <a:rPr lang="en-US" sz="1400" dirty="0">
                <a:latin typeface="AA Stetica" panose="02000503030000020004" pitchFamily="2" charset="0"/>
              </a:rPr>
              <a:t>.,</a:t>
            </a:r>
            <a:r>
              <a:rPr lang="ru-RU" sz="1400" dirty="0">
                <a:latin typeface="AA Stetica" panose="02000503030000020004" pitchFamily="2" charset="0"/>
              </a:rPr>
              <a:t> </a:t>
            </a:r>
            <a:r>
              <a:rPr lang="en-US" sz="1400" dirty="0">
                <a:latin typeface="AA Stetica" panose="02000503030000020004" pitchFamily="2" charset="0"/>
              </a:rPr>
              <a:t>YOY</a:t>
            </a:r>
            <a:endParaRPr lang="ru-RU" sz="1400" dirty="0">
              <a:latin typeface="AA Stetica" panose="02000503030000020004" pitchFamily="2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66C7AFE8-7809-1603-E361-5AECEC4F2FC8}"/>
              </a:ext>
            </a:extLst>
          </p:cNvPr>
          <p:cNvCxnSpPr>
            <a:cxnSpLocks/>
          </p:cNvCxnSpPr>
          <p:nvPr/>
        </p:nvCxnSpPr>
        <p:spPr>
          <a:xfrm>
            <a:off x="587375" y="4472611"/>
            <a:ext cx="6449529" cy="0"/>
          </a:xfrm>
          <a:prstGeom prst="line">
            <a:avLst/>
          </a:prstGeom>
          <a:noFill/>
          <a:ln w="19050">
            <a:solidFill>
              <a:srgbClr val="C41D1C">
                <a:alpha val="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191B41D-FF8E-A1B5-8FE9-929B5C1F9A49}"/>
              </a:ext>
            </a:extLst>
          </p:cNvPr>
          <p:cNvSpPr txBox="1"/>
          <p:nvPr/>
        </p:nvSpPr>
        <p:spPr>
          <a:xfrm>
            <a:off x="496247" y="4608321"/>
            <a:ext cx="20425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A Stetica Medium" panose="02000503030000020004" pitchFamily="2" charset="0"/>
              </a:rPr>
              <a:t>Ключевые драйверы</a:t>
            </a:r>
            <a:endParaRPr lang="ru-RU" sz="1400" dirty="0">
              <a:latin typeface="AA Stetica" panose="02000503030000020004" pitchFamily="2" charset="0"/>
            </a:endParaRPr>
          </a:p>
        </p:txBody>
      </p:sp>
      <p:graphicFrame>
        <p:nvGraphicFramePr>
          <p:cNvPr id="27" name="Диаграмма 26">
            <a:extLst>
              <a:ext uri="{FF2B5EF4-FFF2-40B4-BE49-F238E27FC236}">
                <a16:creationId xmlns:a16="http://schemas.microsoft.com/office/drawing/2014/main" id="{C94BA3D5-3FAB-F351-C7AC-0029EA2E73A1}"/>
              </a:ext>
            </a:extLst>
          </p:cNvPr>
          <p:cNvGraphicFramePr/>
          <p:nvPr/>
        </p:nvGraphicFramePr>
        <p:xfrm>
          <a:off x="496247" y="2106596"/>
          <a:ext cx="6694967" cy="2249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AEE01C8E-3344-FAEF-A0F1-0D49F2308793}"/>
              </a:ext>
            </a:extLst>
          </p:cNvPr>
          <p:cNvCxnSpPr>
            <a:cxnSpLocks/>
          </p:cNvCxnSpPr>
          <p:nvPr/>
        </p:nvCxnSpPr>
        <p:spPr>
          <a:xfrm>
            <a:off x="6786880" y="1992931"/>
            <a:ext cx="0" cy="195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6A174D5F-0841-96A8-D5EA-380EE0ECA304}"/>
              </a:ext>
            </a:extLst>
          </p:cNvPr>
          <p:cNvCxnSpPr>
            <a:cxnSpLocks/>
          </p:cNvCxnSpPr>
          <p:nvPr/>
        </p:nvCxnSpPr>
        <p:spPr>
          <a:xfrm flipV="1">
            <a:off x="6247901" y="1993900"/>
            <a:ext cx="0" cy="28696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67C5AED5-2D5E-46E3-3F5E-E856FCD84A35}"/>
              </a:ext>
            </a:extLst>
          </p:cNvPr>
          <p:cNvCxnSpPr>
            <a:cxnSpLocks/>
          </p:cNvCxnSpPr>
          <p:nvPr/>
        </p:nvCxnSpPr>
        <p:spPr>
          <a:xfrm flipH="1">
            <a:off x="6238376" y="1997035"/>
            <a:ext cx="5554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AF43669-53FF-FC47-9E81-2405D79CE4CD}"/>
              </a:ext>
            </a:extLst>
          </p:cNvPr>
          <p:cNvSpPr txBox="1"/>
          <p:nvPr/>
        </p:nvSpPr>
        <p:spPr>
          <a:xfrm>
            <a:off x="6188145" y="1635346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A Stetica Medium" panose="02000503030000020004" pitchFamily="2" charset="0"/>
              </a:rPr>
              <a:t>+15%</a:t>
            </a:r>
            <a:endParaRPr lang="ru-RU" dirty="0">
              <a:latin typeface="AA Stetica Medium" panose="02000503030000020004" pitchFamily="2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7445E7-918F-38D7-DAA0-8F56B9154E4A}"/>
              </a:ext>
            </a:extLst>
          </p:cNvPr>
          <p:cNvSpPr txBox="1"/>
          <p:nvPr/>
        </p:nvSpPr>
        <p:spPr>
          <a:xfrm>
            <a:off x="494484" y="4870106"/>
            <a:ext cx="37009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AA Stetica Medium" panose="02000503030000020004" pitchFamily="2" charset="0"/>
              </a:rPr>
              <a:t>8</a:t>
            </a:r>
            <a:r>
              <a:rPr lang="en-US" sz="4000" dirty="0">
                <a:latin typeface="AA Stetica Medium" panose="02000503030000020004" pitchFamily="2" charset="0"/>
              </a:rPr>
              <a:t>,4%</a:t>
            </a:r>
            <a:br>
              <a:rPr lang="en-US" sz="4000" dirty="0">
                <a:latin typeface="AA Stetica Medium" panose="02000503030000020004" pitchFamily="2" charset="0"/>
              </a:rPr>
            </a:br>
            <a:r>
              <a:rPr lang="ru-RU" sz="1200" dirty="0">
                <a:latin typeface="AA Stetica" panose="02000503030000020004" pitchFamily="2" charset="0"/>
              </a:rPr>
              <a:t>вносит медицинская инфляция</a:t>
            </a:r>
            <a:r>
              <a:rPr lang="en-US" sz="1200" dirty="0">
                <a:latin typeface="AA Stetica" panose="02000503030000020004" pitchFamily="2" charset="0"/>
              </a:rPr>
              <a:t>,</a:t>
            </a:r>
            <a:r>
              <a:rPr lang="ru-RU" sz="1200" dirty="0">
                <a:latin typeface="AA Stetica" panose="02000503030000020004" pitchFamily="2" charset="0"/>
              </a:rPr>
              <a:t> в том числе</a:t>
            </a:r>
            <a:br>
              <a:rPr lang="ru-RU" sz="1200" dirty="0">
                <a:latin typeface="AA Stetica" panose="02000503030000020004" pitchFamily="2" charset="0"/>
              </a:rPr>
            </a:br>
            <a:r>
              <a:rPr lang="ru-RU" sz="1200" dirty="0">
                <a:latin typeface="AA Stetica" panose="02000503030000020004" pitchFamily="2" charset="0"/>
              </a:rPr>
              <a:t>на 19</a:t>
            </a:r>
            <a:r>
              <a:rPr lang="en-US" sz="1200" dirty="0">
                <a:latin typeface="AA Stetica" panose="02000503030000020004" pitchFamily="2" charset="0"/>
              </a:rPr>
              <a:t>% </a:t>
            </a:r>
            <a:r>
              <a:rPr lang="ru-RU" sz="1200" dirty="0">
                <a:latin typeface="AA Stetica" panose="02000503030000020004" pitchFamily="2" charset="0"/>
              </a:rPr>
              <a:t>подорожали сами медицинские услуги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550014-8764-C6B2-E564-BB4806C942EF}"/>
              </a:ext>
            </a:extLst>
          </p:cNvPr>
          <p:cNvSpPr txBox="1"/>
          <p:nvPr/>
        </p:nvSpPr>
        <p:spPr>
          <a:xfrm>
            <a:off x="4281544" y="4870106"/>
            <a:ext cx="29351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AA Stetica Medium" panose="02000503030000020004" pitchFamily="2" charset="0"/>
              </a:rPr>
              <a:t>на</a:t>
            </a:r>
            <a:r>
              <a:rPr lang="ru-RU" sz="4000" dirty="0">
                <a:latin typeface="AA Stetica Medium" panose="02000503030000020004" pitchFamily="2" charset="0"/>
              </a:rPr>
              <a:t> 6</a:t>
            </a:r>
            <a:r>
              <a:rPr lang="en-US" sz="4000" dirty="0">
                <a:latin typeface="AA Stetica Medium" panose="02000503030000020004" pitchFamily="2" charset="0"/>
              </a:rPr>
              <a:t>,</a:t>
            </a:r>
            <a:r>
              <a:rPr lang="ru-RU" sz="4000" dirty="0">
                <a:latin typeface="AA Stetica Medium" panose="02000503030000020004" pitchFamily="2" charset="0"/>
              </a:rPr>
              <a:t>3</a:t>
            </a:r>
            <a:r>
              <a:rPr lang="en-US" sz="4000" dirty="0">
                <a:latin typeface="AA Stetica Medium" panose="02000503030000020004" pitchFamily="2" charset="0"/>
              </a:rPr>
              <a:t>%</a:t>
            </a:r>
            <a:br>
              <a:rPr lang="en-US" sz="4000" dirty="0">
                <a:latin typeface="AA Stetica Medium" panose="02000503030000020004" pitchFamily="2" charset="0"/>
              </a:rPr>
            </a:br>
            <a:r>
              <a:rPr lang="ru-RU" sz="1200" dirty="0">
                <a:latin typeface="AA Stetica" panose="02000503030000020004" pitchFamily="2" charset="0"/>
              </a:rPr>
              <a:t>выросло потребление медуслуг</a:t>
            </a:r>
            <a:br>
              <a:rPr lang="ru-RU" sz="1200" dirty="0">
                <a:latin typeface="AA Stetica" panose="02000503030000020004" pitchFamily="2" charset="0"/>
              </a:rPr>
            </a:br>
            <a:r>
              <a:rPr lang="ru-RU" sz="1200" dirty="0">
                <a:latin typeface="AA Stetica" panose="02000503030000020004" pitchFamily="2" charset="0"/>
              </a:rPr>
              <a:t>в России</a:t>
            </a:r>
            <a:r>
              <a:rPr lang="en-US" sz="1200" dirty="0">
                <a:latin typeface="AA Stetica" panose="02000503030000020004" pitchFamily="2" charset="0"/>
              </a:rPr>
              <a:t>, 2024/2023</a:t>
            </a:r>
            <a:endParaRPr lang="ru-RU" sz="1200" dirty="0">
              <a:latin typeface="AA Stetica" panose="02000503030000020004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011851-5F5B-AED5-056F-CA9951E87165}"/>
              </a:ext>
            </a:extLst>
          </p:cNvPr>
          <p:cNvSpPr txBox="1"/>
          <p:nvPr/>
        </p:nvSpPr>
        <p:spPr>
          <a:xfrm>
            <a:off x="7635192" y="1321033"/>
            <a:ext cx="34039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AA Stetica Medium" panose="02000503030000020004" pitchFamily="2" charset="0"/>
              </a:rPr>
              <a:t>каждый</a:t>
            </a:r>
            <a:r>
              <a:rPr lang="ru-RU" sz="4000" dirty="0">
                <a:latin typeface="AA Stetica Medium" panose="02000503030000020004" pitchFamily="2" charset="0"/>
              </a:rPr>
              <a:t> 2-й</a:t>
            </a:r>
            <a:br>
              <a:rPr lang="en-US" sz="4000" dirty="0">
                <a:latin typeface="AA Stetica Medium" panose="02000503030000020004" pitchFamily="2" charset="0"/>
              </a:rPr>
            </a:br>
            <a:r>
              <a:rPr lang="ru-RU" sz="1200" dirty="0">
                <a:latin typeface="AA Stetica" panose="02000503030000020004" pitchFamily="2" charset="0"/>
              </a:rPr>
              <a:t>россиянин пользуется платными медицинскими услугами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0A4857A-2926-06C2-1D5B-1E825FD1C811}"/>
              </a:ext>
            </a:extLst>
          </p:cNvPr>
          <p:cNvSpPr txBox="1"/>
          <p:nvPr/>
        </p:nvSpPr>
        <p:spPr>
          <a:xfrm>
            <a:off x="7635192" y="2469092"/>
            <a:ext cx="40357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latin typeface="AA Stetica Medium" panose="02000503030000020004" pitchFamily="2" charset="0"/>
              </a:rPr>
              <a:t>52,</a:t>
            </a:r>
            <a:r>
              <a:rPr lang="en-US" sz="4000" dirty="0">
                <a:latin typeface="AA Stetica Medium" panose="02000503030000020004" pitchFamily="2" charset="0"/>
              </a:rPr>
              <a:t>2 </a:t>
            </a:r>
            <a:r>
              <a:rPr lang="ru-RU" sz="3200" dirty="0" err="1">
                <a:latin typeface="AA Stetica Medium" panose="02000503030000020004" pitchFamily="2" charset="0"/>
              </a:rPr>
              <a:t>тыс</a:t>
            </a:r>
            <a:r>
              <a:rPr lang="en-US" sz="3200" dirty="0">
                <a:latin typeface="AA Stetica Medium" panose="02000503030000020004" pitchFamily="2" charset="0"/>
              </a:rPr>
              <a:t>. </a:t>
            </a:r>
            <a:r>
              <a:rPr lang="ru-RU" sz="3200" dirty="0" err="1">
                <a:latin typeface="AA Stetica Medium" panose="02000503030000020004" pitchFamily="2" charset="0"/>
              </a:rPr>
              <a:t>руб</a:t>
            </a:r>
            <a:r>
              <a:rPr lang="en-US" sz="3200" dirty="0">
                <a:latin typeface="AA Stetica Medium" panose="02000503030000020004" pitchFamily="2" charset="0"/>
              </a:rPr>
              <a:t>.</a:t>
            </a:r>
            <a:r>
              <a:rPr lang="ru-RU" sz="3200" dirty="0">
                <a:latin typeface="AA Stetica Medium" panose="02000503030000020004" pitchFamily="2" charset="0"/>
              </a:rPr>
              <a:t>/год</a:t>
            </a:r>
            <a:br>
              <a:rPr lang="en-US" sz="4000" dirty="0">
                <a:latin typeface="AA Stetica Medium" panose="02000503030000020004" pitchFamily="2" charset="0"/>
              </a:rPr>
            </a:br>
            <a:r>
              <a:rPr lang="ru-RU" sz="1200" dirty="0">
                <a:latin typeface="AA Stetica" panose="02000503030000020004" pitchFamily="2" charset="0"/>
              </a:rPr>
              <a:t>средние расходы на медицину в России на человека</a:t>
            </a:r>
          </a:p>
        </p:txBody>
      </p:sp>
      <p:sp>
        <p:nvSpPr>
          <p:cNvPr id="55" name="Скругленный прямоугольник 54">
            <a:extLst>
              <a:ext uri="{FF2B5EF4-FFF2-40B4-BE49-F238E27FC236}">
                <a16:creationId xmlns:a16="http://schemas.microsoft.com/office/drawing/2014/main" id="{125E431F-45BA-BD9D-007F-5C075BB4B1AB}"/>
              </a:ext>
            </a:extLst>
          </p:cNvPr>
          <p:cNvSpPr/>
          <p:nvPr/>
        </p:nvSpPr>
        <p:spPr>
          <a:xfrm>
            <a:off x="7465128" y="3666804"/>
            <a:ext cx="4391910" cy="2499045"/>
          </a:xfrm>
          <a:prstGeom prst="roundRect">
            <a:avLst>
              <a:gd name="adj" fmla="val 4079"/>
            </a:avLst>
          </a:prstGeom>
          <a:noFill/>
          <a:ln w="19050">
            <a:solidFill>
              <a:srgbClr val="C41D1C">
                <a:alpha val="9804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B9956A-ADFD-AE3A-62AC-CFD1BDD2702E}"/>
              </a:ext>
            </a:extLst>
          </p:cNvPr>
          <p:cNvSpPr txBox="1"/>
          <p:nvPr/>
        </p:nvSpPr>
        <p:spPr>
          <a:xfrm>
            <a:off x="7626412" y="3778497"/>
            <a:ext cx="3883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A Stetica Medium" panose="02000503030000020004" pitchFamily="2" charset="0"/>
              </a:rPr>
              <a:t>Наиболее популярные медуслуги</a:t>
            </a:r>
            <a:br>
              <a:rPr lang="ru-RU" sz="1400" dirty="0">
                <a:latin typeface="AA Stetica Medium" panose="02000503030000020004" pitchFamily="2" charset="0"/>
              </a:rPr>
            </a:br>
            <a:r>
              <a:rPr lang="ru-RU" sz="1400" dirty="0">
                <a:latin typeface="AA Stetica Medium" panose="02000503030000020004" pitchFamily="2" charset="0"/>
              </a:rPr>
              <a:t>в России</a:t>
            </a:r>
            <a:r>
              <a:rPr lang="en-US" sz="1400" dirty="0">
                <a:latin typeface="AA Stetica Medium" panose="02000503030000020004" pitchFamily="2" charset="0"/>
              </a:rPr>
              <a:t>,</a:t>
            </a:r>
            <a:r>
              <a:rPr lang="en-US" sz="1400" dirty="0">
                <a:latin typeface="AA Stetica" panose="02000503030000020004" pitchFamily="2" charset="0"/>
              </a:rPr>
              <a:t> % </a:t>
            </a:r>
            <a:r>
              <a:rPr lang="ru-RU" sz="1400" dirty="0">
                <a:latin typeface="AA Stetica" panose="02000503030000020004" pitchFamily="2" charset="0"/>
              </a:rPr>
              <a:t>опрошенных</a:t>
            </a:r>
          </a:p>
        </p:txBody>
      </p:sp>
      <p:graphicFrame>
        <p:nvGraphicFramePr>
          <p:cNvPr id="57" name="Диаграмма 56">
            <a:extLst>
              <a:ext uri="{FF2B5EF4-FFF2-40B4-BE49-F238E27FC236}">
                <a16:creationId xmlns:a16="http://schemas.microsoft.com/office/drawing/2014/main" id="{20FD66F4-88CA-5C56-7D15-94270EE9AAEE}"/>
              </a:ext>
            </a:extLst>
          </p:cNvPr>
          <p:cNvGraphicFramePr/>
          <p:nvPr/>
        </p:nvGraphicFramePr>
        <p:xfrm>
          <a:off x="7670818" y="4185415"/>
          <a:ext cx="4221844" cy="1939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CD178AD-9974-894D-A141-7CD9B04A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2374" y="6235573"/>
            <a:ext cx="260008" cy="276999"/>
          </a:xfrm>
          <a:noFill/>
        </p:spPr>
        <p:txBody>
          <a:bodyPr wrap="none" rtlCol="0">
            <a:spAutoFit/>
          </a:bodyPr>
          <a:lstStyle/>
          <a:p>
            <a:pPr algn="l"/>
            <a:fld id="{DC5E6445-43EF-214B-93F3-CA47B9D5594A}" type="slidenum">
              <a:rPr lang="ru-RU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pPr algn="l"/>
              <a:t>1</a:t>
            </a:fld>
            <a:endParaRPr lang="ru-RU">
              <a:solidFill>
                <a:schemeClr val="bg1">
                  <a:lumMod val="50000"/>
                </a:schemeClr>
              </a:solidFill>
              <a:latin typeface="AA Stetica" panose="02000503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15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</Words>
  <Application>Microsoft Macintosh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AA Stetica</vt:lpstr>
      <vt:lpstr>AA Stetica Medium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2026-04-03T09:14:34Z</dcterms:created>
  <dcterms:modified xsi:type="dcterms:W3CDTF">2026-04-03T09:15:36Z</dcterms:modified>
</cp:coreProperties>
</file>
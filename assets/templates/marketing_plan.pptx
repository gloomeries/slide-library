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6"/>
  </p:normalViewPr>
  <p:slideViewPr>
    <p:cSldViewPr snapToGrid="0" showGuides="1">
      <p:cViewPr varScale="1">
        <p:scale>
          <a:sx n="107" d="100"/>
          <a:sy n="107" d="100"/>
        </p:scale>
        <p:origin x="66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6FDE5C-3800-3F40-B09D-2AC40AB2BBC8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294D0-A827-FD40-9ED3-6F055E8A90B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757799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5E128-E800-EC83-7DC6-2D631A61C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751EF6F-942F-0170-8309-6408DC69C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B14F563-1909-6706-17EC-EE6E893D2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FA39FE-7C42-CD03-DBF2-4300DF223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42AD11-4A0F-6D4A-8AF1-C6CF5692D3A2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5956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A0CED-DBAA-3F19-D1D4-9B79D0E26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4B905-1D70-26CC-9C2A-30FD1395C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BB945-8C9C-EC8F-1EE5-C403220C0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48975-1735-BF44-907D-5037D56997A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6E2DC-9DF2-F44C-FE51-49050ABB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763C8-A9F5-B50F-3A38-BB29B08D3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5973F-BB69-A744-8A2A-CF4D33C7DE2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9706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E6B5D-F120-7618-ED20-982CC8A84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1120E-22A4-3672-2014-42C80FE20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7B927E-4DC0-1E5C-C883-88028622E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48975-1735-BF44-907D-5037D56997A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70095-FEA0-6B48-463A-720A19D93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F3E44-CF26-AAFA-20E6-9A3385719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5973F-BB69-A744-8A2A-CF4D33C7DE2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68538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1435D-C899-09E0-53D4-F73B97289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ADFBA-822B-9140-F53F-F94CE18FA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507D-55E4-0AF0-717E-DF8560F8D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48975-1735-BF44-907D-5037D56997A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FC458-24B5-9F5C-5A89-886BBCF45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6871E-81B8-5F82-81A5-EB829FFA0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5973F-BB69-A744-8A2A-CF4D33C7DE2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10822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FE81B-2576-99E1-2AAD-6F599F6BD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D43AF-17EA-8DC9-46F3-E4A42F06B2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40A5E-19BD-51AA-4AD7-F9FC83A6EA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2D6CD-2837-46B4-7FF0-4FF0E2A93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48975-1735-BF44-907D-5037D56997A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78F40-4934-8852-1B06-826C8DBB9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EBF0D-AB60-0FD5-611A-9AFEC9B0A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5973F-BB69-A744-8A2A-CF4D33C7DE2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95279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D067F-652B-D4EB-5AAE-E3FB194A9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30D19B-178E-008F-346F-7EEADB133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9497A-850A-DFD5-BD8D-C8E80AFB4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9034BE-8322-157E-512C-964872CB55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8122F6-5C99-FB01-DDA1-F9DA0021EC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26204F-CEE1-A306-67F7-AE50E002D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48975-1735-BF44-907D-5037D56997A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38A91-0669-6670-582B-5954B89D9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6D360E-E3AA-01E2-61A8-A1C9BFEDB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5973F-BB69-A744-8A2A-CF4D33C7DE2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57083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CEB2E-B847-EA28-D423-36D2D733F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73B4D8-379B-8097-0402-A20C29123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48975-1735-BF44-907D-5037D56997A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766B06-ADFE-4ACA-3C91-920FA4E32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897640-7BF5-E99E-76F0-3A4445533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5973F-BB69-A744-8A2A-CF4D33C7DE2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468311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25C1A0-E078-0C86-FAE2-84F5FD633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48975-1735-BF44-907D-5037D56997A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D26DF3-C831-D78B-DB79-F0FFDBBE9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BF328-C1A9-645A-E295-CC4AF220B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5973F-BB69-A744-8A2A-CF4D33C7DE2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29187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C2C91-B117-CC5E-B2D6-66ACA8438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108E4-A949-14B2-4157-A3A0A5CF2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732BA9-4375-878D-262C-1A5A22C1A8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1A6C5B-8908-6849-2D7D-E9C6A280F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48975-1735-BF44-907D-5037D56997A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C9A91-8D6D-AA9A-E57E-58A61DFC6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D31CE-EB3C-4DFA-9541-A17CEB8F5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5973F-BB69-A744-8A2A-CF4D33C7DE2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86597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3CC17-9DA8-7EAE-73B4-4CD1CA702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20F777-3A5A-9572-8BD2-3A8723BC78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C3871-01A0-8257-61BE-72735D80B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10B86-C9CC-1003-D581-1F4F98CAD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48975-1735-BF44-907D-5037D56997A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18A062-5588-0CCF-D18C-70F4C8306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12E3A-0954-6628-B3EA-016C33E1C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5973F-BB69-A744-8A2A-CF4D33C7DE2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91230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8CE6A-1CD2-C1F0-6140-9E53D3FD6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30E2C8-1181-AC13-050B-65E46CFF68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C1869-DA6E-BF0E-C509-C2E73BDCD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48975-1735-BF44-907D-5037D56997A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1B501-D944-77E0-1876-6FCB8B72F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CD37B-C7C3-B2AA-2A37-E65ECEA61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5973F-BB69-A744-8A2A-CF4D33C7DE2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06161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7201EB-2D2D-F49A-4B0A-231E025B6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3786E-0C09-257C-417A-80532C6B6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A241A-6FA1-D90C-7102-2201B21E9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48975-1735-BF44-907D-5037D56997A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D7B1A-BAFD-9B0E-0869-BC1BA7BE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15A03-AF15-1A1B-2619-5DCFCEB15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75973F-BB69-A744-8A2A-CF4D33C7DE2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84903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CF69D1-FE17-0717-A939-1A94449E9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1754D-EA6B-560E-E23D-CC7D2D0CE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772AB-8E9C-C6EE-A3AC-A2A98B0C82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D48975-1735-BF44-907D-5037D56997A9}" type="datetimeFigureOut">
              <a:rPr lang="en-RU" smtClean="0"/>
              <a:t>03.04.2026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1AD43F-A426-BAAA-9C44-4B1B61357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B9F72-6AEB-0BF6-3E55-1471C353C7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5973F-BB69-A744-8A2A-CF4D33C7DE27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210560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9BA9E-621A-7C9D-76CE-0059A0BF5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2DAE357-F843-5F4F-B3B0-6867994431A5}"/>
              </a:ext>
            </a:extLst>
          </p:cNvPr>
          <p:cNvSpPr/>
          <p:nvPr/>
        </p:nvSpPr>
        <p:spPr>
          <a:xfrm>
            <a:off x="334963" y="262468"/>
            <a:ext cx="2115629" cy="286808"/>
          </a:xfrm>
          <a:prstGeom prst="rect">
            <a:avLst/>
          </a:prstGeom>
          <a:solidFill>
            <a:srgbClr val="C41D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>
                <a:latin typeface="AA Stetica Medium" panose="02000503030000020004" pitchFamily="2" charset="0"/>
              </a:rPr>
              <a:t>Маркетинговый план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0C0849-00FD-CB54-3D0F-BC9720A60829}"/>
              </a:ext>
            </a:extLst>
          </p:cNvPr>
          <p:cNvSpPr txBox="1"/>
          <p:nvPr/>
        </p:nvSpPr>
        <p:spPr>
          <a:xfrm>
            <a:off x="229118" y="609707"/>
            <a:ext cx="11617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AA Stetica Medium" panose="02000503030000020004" pitchFamily="2" charset="0"/>
              </a:rPr>
              <a:t>После сегментирования ЦА были выявлены ключевые факторы успеха отрасли и проведено сравнение среди конкурентов</a:t>
            </a:r>
            <a:r>
              <a:rPr lang="en-US" sz="1600" dirty="0">
                <a:latin typeface="AA Stetica Medium" panose="02000503030000020004" pitchFamily="2" charset="0"/>
              </a:rPr>
              <a:t>, </a:t>
            </a:r>
            <a:r>
              <a:rPr lang="ru-RU" sz="1600" dirty="0">
                <a:latin typeface="AA Stetica Medium" panose="02000503030000020004" pitchFamily="2" charset="0"/>
              </a:rPr>
              <a:t>на основе чего было сформировано итоговое позиционирование всей компании</a:t>
            </a:r>
            <a:r>
              <a:rPr lang="en-US" sz="1600" dirty="0">
                <a:latin typeface="AA Stetica Medium" panose="02000503030000020004" pitchFamily="2" charset="0"/>
              </a:rPr>
              <a:t>.</a:t>
            </a:r>
            <a:endParaRPr lang="ru-RU" sz="1600" dirty="0">
              <a:latin typeface="AA Stetica Medium" panose="02000503030000020004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3D1758-6706-1E34-3937-828BE385561B}"/>
              </a:ext>
            </a:extLst>
          </p:cNvPr>
          <p:cNvSpPr txBox="1"/>
          <p:nvPr/>
        </p:nvSpPr>
        <p:spPr>
          <a:xfrm>
            <a:off x="233365" y="6230826"/>
            <a:ext cx="8891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solidFill>
                  <a:schemeClr val="bg1">
                    <a:lumMod val="50000"/>
                  </a:schemeClr>
                </a:solidFill>
                <a:latin typeface="AA Stetica" panose="02000503030000020004" pitchFamily="2" charset="0"/>
              </a:rPr>
              <a:t>Источники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AA Stetica" panose="02000503030000020004" pitchFamily="2" charset="0"/>
              </a:rPr>
              <a:t>:</a:t>
            </a:r>
            <a:r>
              <a:rPr lang="ru-RU" sz="1200" dirty="0">
                <a:solidFill>
                  <a:schemeClr val="bg1">
                    <a:lumMod val="50000"/>
                  </a:schemeClr>
                </a:solidFill>
                <a:latin typeface="AA Stetica" panose="02000503030000020004" pitchFamily="2" charset="0"/>
              </a:rPr>
              <a:t> анализ команды</a:t>
            </a: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AA Stetica" panose="02000503030000020004" pitchFamily="2" charset="0"/>
              </a:rPr>
              <a:t>.</a:t>
            </a:r>
          </a:p>
          <a:p>
            <a:r>
              <a:rPr lang="ru-RU" sz="1200" dirty="0">
                <a:solidFill>
                  <a:schemeClr val="bg1">
                    <a:lumMod val="50000"/>
                  </a:schemeClr>
                </a:solidFill>
                <a:latin typeface="AA Stetica" panose="02000503030000020004" pitchFamily="2" charset="0"/>
              </a:rPr>
              <a:t>+++ фактор присутствует в высокой степени;  ++ фактор присутствует в средней степени; - фактор отсутствует.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FD46376-4FB0-F3D7-6585-26957510D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2374" y="6235573"/>
            <a:ext cx="260008" cy="276999"/>
          </a:xfrm>
          <a:noFill/>
        </p:spPr>
        <p:txBody>
          <a:bodyPr wrap="none" rtlCol="0">
            <a:spAutoFit/>
          </a:bodyPr>
          <a:lstStyle/>
          <a:p>
            <a:pPr algn="l"/>
            <a:fld id="{DC5E6445-43EF-214B-93F3-CA47B9D5594A}" type="slidenum">
              <a:rPr lang="ru-RU">
                <a:solidFill>
                  <a:schemeClr val="bg1">
                    <a:lumMod val="50000"/>
                  </a:schemeClr>
                </a:solidFill>
                <a:latin typeface="AA Stetica" panose="02000503030000020004" pitchFamily="2" charset="0"/>
              </a:rPr>
              <a:pPr algn="l"/>
              <a:t>1</a:t>
            </a:fld>
            <a:endParaRPr lang="ru-RU">
              <a:solidFill>
                <a:schemeClr val="bg1">
                  <a:lumMod val="50000"/>
                </a:schemeClr>
              </a:solidFill>
              <a:latin typeface="AA Stetica" panose="02000503030000020004" pitchFamily="2" charset="0"/>
            </a:endParaRPr>
          </a:p>
        </p:txBody>
      </p:sp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E0CAF209-8E96-9B4B-3588-179CEB020BD3}"/>
              </a:ext>
            </a:extLst>
          </p:cNvPr>
          <p:cNvSpPr/>
          <p:nvPr/>
        </p:nvSpPr>
        <p:spPr>
          <a:xfrm>
            <a:off x="7533861" y="1268413"/>
            <a:ext cx="4312625" cy="4897437"/>
          </a:xfrm>
          <a:prstGeom prst="roundRect">
            <a:avLst>
              <a:gd name="adj" fmla="val 1947"/>
            </a:avLst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C7BC2CFB-4A5C-6045-B417-1B1A3F6B7E6B}"/>
              </a:ext>
            </a:extLst>
          </p:cNvPr>
          <p:cNvGraphicFramePr>
            <a:graphicFrameLocks noGrp="1"/>
          </p:cNvGraphicFramePr>
          <p:nvPr/>
        </p:nvGraphicFramePr>
        <p:xfrm>
          <a:off x="334963" y="1291674"/>
          <a:ext cx="6840000" cy="48741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0000">
                  <a:extLst>
                    <a:ext uri="{9D8B030D-6E8A-4147-A177-3AD203B41FA5}">
                      <a16:colId xmlns:a16="http://schemas.microsoft.com/office/drawing/2014/main" val="60570335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72308899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37579326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05370961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3372682441"/>
                    </a:ext>
                  </a:extLst>
                </a:gridCol>
              </a:tblGrid>
              <a:tr h="592245">
                <a:tc>
                  <a:txBody>
                    <a:bodyPr/>
                    <a:lstStyle/>
                    <a:p>
                      <a:r>
                        <a:rPr lang="ru-RU" sz="1200" b="1" i="0" dirty="0">
                          <a:latin typeface="AA Stetica" panose="02000503030000020004" pitchFamily="2" charset="0"/>
                        </a:rPr>
                        <a:t>КФУ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i="0" dirty="0">
                          <a:latin typeface="AA Stetica" panose="02000503030000020004" pitchFamily="2" charset="0"/>
                        </a:rPr>
                        <a:t>Спорт</a:t>
                      </a:r>
                    </a:p>
                    <a:p>
                      <a:r>
                        <a:rPr lang="ru-RU" sz="1200" b="1" i="0" dirty="0">
                          <a:latin typeface="AA Stetica" panose="02000503030000020004" pitchFamily="2" charset="0"/>
                        </a:rPr>
                        <a:t>Медика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i="0" dirty="0">
                          <a:latin typeface="AA Stetica" panose="02000503030000020004" pitchFamily="2" charset="0"/>
                        </a:rPr>
                        <a:t>ЕМС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1" i="0" dirty="0">
                          <a:latin typeface="AA Stetica" panose="02000503030000020004" pitchFamily="2" charset="0"/>
                        </a:rPr>
                        <a:t>Лужники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i="0" dirty="0">
                          <a:latin typeface="AA Stetica" panose="02000503030000020004" pitchFamily="2" charset="0"/>
                        </a:rPr>
                        <a:t>Smart</a:t>
                      </a:r>
                      <a:br>
                        <a:rPr lang="en-US" sz="1200" b="1" i="0" dirty="0">
                          <a:latin typeface="AA Stetica" panose="02000503030000020004" pitchFamily="2" charset="0"/>
                        </a:rPr>
                      </a:br>
                      <a:r>
                        <a:rPr lang="en-US" sz="1200" b="1" i="0" dirty="0">
                          <a:latin typeface="AA Stetica" panose="02000503030000020004" pitchFamily="2" charset="0"/>
                        </a:rPr>
                        <a:t>Recovery</a:t>
                      </a:r>
                      <a:endParaRPr lang="ru-RU" sz="1200" b="1" i="0" dirty="0">
                        <a:latin typeface="AA Stetica" panose="0200050303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1787774"/>
                  </a:ext>
                </a:extLst>
              </a:tr>
              <a:tr h="897147">
                <a:tc>
                  <a:txBody>
                    <a:bodyPr/>
                    <a:lstStyle/>
                    <a:p>
                      <a:r>
                        <a:rPr lang="ru-RU" sz="1200" b="0" i="0" kern="1200" dirty="0">
                          <a:solidFill>
                            <a:schemeClr val="tx1"/>
                          </a:solidFill>
                          <a:effectLst/>
                          <a:latin typeface="AA Stetica" panose="02000503030000020004" pitchFamily="2" charset="0"/>
                          <a:ea typeface="+mn-ea"/>
                          <a:cs typeface="+mn-cs"/>
                        </a:rPr>
                        <a:t>Партнерства </a:t>
                      </a:r>
                      <a:br>
                        <a:rPr lang="ru-RU" sz="1200" b="0" i="0" kern="1200" dirty="0">
                          <a:solidFill>
                            <a:schemeClr val="tx1"/>
                          </a:solidFill>
                          <a:effectLst/>
                          <a:latin typeface="AA Stetica" panose="02000503030000020004" pitchFamily="2" charset="0"/>
                          <a:ea typeface="+mn-ea"/>
                          <a:cs typeface="+mn-cs"/>
                        </a:rPr>
                      </a:br>
                      <a:r>
                        <a:rPr lang="ru-RU" sz="1200" b="0" i="0" kern="1200" dirty="0">
                          <a:solidFill>
                            <a:schemeClr val="tx1"/>
                          </a:solidFill>
                          <a:effectLst/>
                          <a:latin typeface="AA Stetica" panose="02000503030000020004" pitchFamily="2" charset="0"/>
                          <a:ea typeface="+mn-ea"/>
                          <a:cs typeface="+mn-cs"/>
                        </a:rPr>
                        <a:t>со спортивными организациями, тренерами, спортсменами</a:t>
                      </a:r>
                      <a:r>
                        <a:rPr lang="ru-RU" sz="1200" b="0" i="0" dirty="0">
                          <a:effectLst/>
                          <a:latin typeface="AA Stetica" panose="02000503030000020004" pitchFamily="2" charset="0"/>
                        </a:rPr>
                        <a:t> </a:t>
                      </a:r>
                      <a:endParaRPr lang="ru-RU" sz="1200" b="0" i="0" dirty="0">
                        <a:latin typeface="AA Stetica" panose="02000503030000020004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AA Stetica" panose="02000503030000020004" pitchFamily="2" charset="0"/>
                        </a:rPr>
                        <a:t>++</a:t>
                      </a:r>
                      <a:endParaRPr lang="ru-RU" sz="2400" b="0" i="0" dirty="0">
                        <a:latin typeface="AA Stetica" panose="0200050303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AA Stetica" panose="02000503030000020004" pitchFamily="2" charset="0"/>
                        </a:rPr>
                        <a:t>-</a:t>
                      </a:r>
                      <a:endParaRPr lang="ru-RU" sz="2400" b="0" i="0" dirty="0">
                        <a:latin typeface="AA Stetica" panose="0200050303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 i="0" dirty="0">
                          <a:latin typeface="AA Stetica" panose="02000503030000020004" pitchFamily="2" charset="0"/>
                        </a:rPr>
                        <a:t>+++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 i="0" dirty="0">
                          <a:latin typeface="AA Stetica" panose="02000503030000020004" pitchFamily="2" charset="0"/>
                        </a:rPr>
                        <a:t>+++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632047"/>
                  </a:ext>
                </a:extLst>
              </a:tr>
              <a:tr h="89714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dirty="0">
                          <a:latin typeface="AA Stetica" panose="02000503030000020004" pitchFamily="2" charset="0"/>
                        </a:rPr>
                        <a:t>Наличие инновационного оборудования </a:t>
                      </a:r>
                      <a:br>
                        <a:rPr lang="ru-RU" sz="1200" b="0" i="0" dirty="0">
                          <a:latin typeface="AA Stetica" panose="02000503030000020004" pitchFamily="2" charset="0"/>
                        </a:rPr>
                      </a:br>
                      <a:r>
                        <a:rPr lang="ru-RU" sz="1200" b="0" i="0" dirty="0">
                          <a:latin typeface="AA Stetica" panose="02000503030000020004" pitchFamily="2" charset="0"/>
                        </a:rPr>
                        <a:t>и современного подхода</a:t>
                      </a:r>
                      <a:br>
                        <a:rPr lang="ru-RU" sz="1200" b="0" i="0" dirty="0">
                          <a:latin typeface="AA Stetica" panose="02000503030000020004" pitchFamily="2" charset="0"/>
                        </a:rPr>
                      </a:br>
                      <a:r>
                        <a:rPr lang="ru-RU" sz="1200" b="0" i="0" dirty="0">
                          <a:latin typeface="AA Stetica" panose="02000503030000020004" pitchFamily="2" charset="0"/>
                        </a:rPr>
                        <a:t>к лечению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AA Stetica" panose="02000503030000020004" pitchFamily="2" charset="0"/>
                        </a:rPr>
                        <a:t>++</a:t>
                      </a:r>
                      <a:endParaRPr lang="ru-RU" sz="2400" b="0" i="0" dirty="0">
                        <a:latin typeface="AA Stetica" panose="0200050303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AA Stetica" panose="02000503030000020004" pitchFamily="2" charset="0"/>
                        </a:rPr>
                        <a:t>+++</a:t>
                      </a:r>
                      <a:endParaRPr lang="ru-RU" sz="2400" b="0" i="0" dirty="0">
                        <a:latin typeface="AA Stetica" panose="0200050303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 i="0" dirty="0">
                          <a:latin typeface="AA Stetica" panose="02000503030000020004" pitchFamily="2" charset="0"/>
                        </a:rPr>
                        <a:t>+++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 i="0" dirty="0">
                          <a:latin typeface="AA Stetica" panose="02000503030000020004" pitchFamily="2" charset="0"/>
                        </a:rPr>
                        <a:t>++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0900848"/>
                  </a:ext>
                </a:extLst>
              </a:tr>
              <a:tr h="8292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dirty="0">
                          <a:latin typeface="AA Stetica" panose="02000503030000020004" pitchFamily="2" charset="0"/>
                        </a:rPr>
                        <a:t>Персонализированный </a:t>
                      </a:r>
                      <a:r>
                        <a:rPr lang="en" sz="1200" b="0" i="0" dirty="0" err="1">
                          <a:latin typeface="AA Stetica" panose="02000503030000020004" pitchFamily="2" charset="0"/>
                        </a:rPr>
                        <a:t>ToV</a:t>
                      </a:r>
                      <a:br>
                        <a:rPr lang="ru-RU" sz="1200" b="0" i="0" dirty="0">
                          <a:latin typeface="AA Stetica" panose="02000503030000020004" pitchFamily="2" charset="0"/>
                        </a:rPr>
                      </a:br>
                      <a:r>
                        <a:rPr lang="ru-RU" sz="1200" b="0" i="0" dirty="0">
                          <a:latin typeface="AA Stetica" panose="02000503030000020004" pitchFamily="2" charset="0"/>
                        </a:rPr>
                        <a:t>не медицинского персонала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AA Stetica" panose="02000503030000020004" pitchFamily="2" charset="0"/>
                        </a:rPr>
                        <a:t>+++</a:t>
                      </a:r>
                      <a:endParaRPr lang="ru-RU" sz="2400" b="0" i="0" dirty="0">
                        <a:latin typeface="AA Stetica" panose="0200050303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AA Stetica" panose="02000503030000020004" pitchFamily="2" charset="0"/>
                        </a:rPr>
                        <a:t>-</a:t>
                      </a:r>
                      <a:endParaRPr lang="ru-RU" sz="2400" b="0" i="0" dirty="0">
                        <a:latin typeface="AA Stetica" panose="0200050303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 i="0" dirty="0">
                          <a:latin typeface="AA Stetica" panose="02000503030000020004" pitchFamily="2" charset="0"/>
                        </a:rPr>
                        <a:t>-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 i="0" dirty="0">
                          <a:latin typeface="AA Stetica" panose="02000503030000020004" pitchFamily="2" charset="0"/>
                        </a:rPr>
                        <a:t>++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644769"/>
                  </a:ext>
                </a:extLst>
              </a:tr>
              <a:tr h="8292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dirty="0">
                          <a:latin typeface="AA Stetica" panose="02000503030000020004" pitchFamily="2" charset="0"/>
                        </a:rPr>
                        <a:t>Холистический подход</a:t>
                      </a:r>
                      <a:br>
                        <a:rPr lang="ru-RU" sz="1200" b="0" i="0" dirty="0">
                          <a:latin typeface="AA Stetica" panose="02000503030000020004" pitchFamily="2" charset="0"/>
                        </a:rPr>
                      </a:br>
                      <a:r>
                        <a:rPr lang="ru-RU" sz="1200" b="0" i="0" dirty="0">
                          <a:latin typeface="AA Stetica" panose="02000503030000020004" pitchFamily="2" charset="0"/>
                        </a:rPr>
                        <a:t>к лечению и диагностике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AA Stetica" panose="02000503030000020004" pitchFamily="2" charset="0"/>
                        </a:rPr>
                        <a:t>+++</a:t>
                      </a:r>
                      <a:endParaRPr lang="ru-RU" sz="2400" b="0" i="0" dirty="0">
                        <a:latin typeface="AA Stetica" panose="0200050303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AA Stetica" panose="02000503030000020004" pitchFamily="2" charset="0"/>
                        </a:rPr>
                        <a:t>++</a:t>
                      </a:r>
                      <a:endParaRPr lang="ru-RU" sz="2400" b="0" i="0" dirty="0">
                        <a:latin typeface="AA Stetica" panose="0200050303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 i="0" dirty="0">
                          <a:latin typeface="AA Stetica" panose="02000503030000020004" pitchFamily="2" charset="0"/>
                        </a:rPr>
                        <a:t>++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 i="0" dirty="0">
                          <a:latin typeface="AA Stetica" panose="02000503030000020004" pitchFamily="2" charset="0"/>
                        </a:rPr>
                        <a:t>+++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3460881"/>
                  </a:ext>
                </a:extLst>
              </a:tr>
              <a:tr h="8292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i="0" dirty="0">
                          <a:latin typeface="AA Stetica" panose="02000503030000020004" pitchFamily="2" charset="0"/>
                        </a:rPr>
                        <a:t>Спортивно-ориентированная культура обслуживания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AA Stetica" panose="02000503030000020004" pitchFamily="2" charset="0"/>
                        </a:rPr>
                        <a:t>+++</a:t>
                      </a:r>
                      <a:endParaRPr lang="ru-RU" sz="2400" b="0" i="0" dirty="0">
                        <a:latin typeface="AA Stetica" panose="0200050303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0" i="0" dirty="0">
                          <a:latin typeface="AA Stetica" panose="02000503030000020004" pitchFamily="2" charset="0"/>
                        </a:rPr>
                        <a:t>-</a:t>
                      </a:r>
                      <a:endParaRPr lang="ru-RU" sz="2400" b="0" i="0" dirty="0">
                        <a:latin typeface="AA Stetica" panose="02000503030000020004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 i="0" dirty="0">
                          <a:latin typeface="AA Stetica" panose="02000503030000020004" pitchFamily="2" charset="0"/>
                        </a:rPr>
                        <a:t>++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ru-RU" sz="2400" b="0" i="0" dirty="0">
                          <a:latin typeface="AA Stetica" panose="02000503030000020004" pitchFamily="2" charset="0"/>
                        </a:rPr>
                        <a:t>+++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274015769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4E06587C-DA67-A025-4168-DC463C0A9BE1}"/>
              </a:ext>
            </a:extLst>
          </p:cNvPr>
          <p:cNvSpPr txBox="1"/>
          <p:nvPr/>
        </p:nvSpPr>
        <p:spPr>
          <a:xfrm>
            <a:off x="7663791" y="1330424"/>
            <a:ext cx="19431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AA Stetica Medium" panose="02000503030000020004" pitchFamily="2" charset="0"/>
              </a:rPr>
              <a:t>Позиционирование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3F376A-863D-48CF-CA11-DB4DCB024DE1}"/>
              </a:ext>
            </a:extLst>
          </p:cNvPr>
          <p:cNvSpPr txBox="1"/>
          <p:nvPr/>
        </p:nvSpPr>
        <p:spPr>
          <a:xfrm>
            <a:off x="7680881" y="1638201"/>
            <a:ext cx="4018583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solidFill>
                  <a:srgbClr val="C41D1C"/>
                </a:solidFill>
                <a:latin typeface="AA Stetica" panose="02000503030000020004" pitchFamily="2" charset="0"/>
              </a:rPr>
              <a:t>Для кого?</a:t>
            </a:r>
          </a:p>
          <a:p>
            <a:r>
              <a:rPr lang="ru-RU" sz="1600" dirty="0">
                <a:latin typeface="AA Stetica" panose="02000503030000020004" pitchFamily="2" charset="0"/>
              </a:rPr>
              <a:t>Для спортсменов разного профессионального уровня и людей, периодически занимающихся физической культурой</a:t>
            </a:r>
            <a:r>
              <a:rPr lang="en-US" sz="1600" dirty="0">
                <a:latin typeface="AA Stetica" panose="02000503030000020004" pitchFamily="2" charset="0"/>
              </a:rPr>
              <a:t>.</a:t>
            </a:r>
            <a:endParaRPr lang="ru-RU" sz="1600" dirty="0">
              <a:latin typeface="AA Stetica" panose="02000503030000020004" pitchFamily="2" charset="0"/>
            </a:endParaRPr>
          </a:p>
          <a:p>
            <a:endParaRPr lang="ru-RU" sz="1600" b="1" dirty="0">
              <a:solidFill>
                <a:srgbClr val="C41D1C"/>
              </a:solidFill>
              <a:latin typeface="AA Stetica" panose="02000503030000020004" pitchFamily="2" charset="0"/>
            </a:endParaRPr>
          </a:p>
          <a:p>
            <a:r>
              <a:rPr lang="ru-RU" sz="1600" b="1" dirty="0">
                <a:solidFill>
                  <a:srgbClr val="C41D1C"/>
                </a:solidFill>
                <a:latin typeface="AA Stetica" panose="02000503030000020004" pitchFamily="2" charset="0"/>
              </a:rPr>
              <a:t>Какую потребность закрывает?</a:t>
            </a:r>
          </a:p>
          <a:p>
            <a:r>
              <a:rPr lang="ru-RU" sz="1600" dirty="0">
                <a:latin typeface="AA Stetica" panose="02000503030000020004" pitchFamily="2" charset="0"/>
              </a:rPr>
              <a:t>Потребность в профилактике</a:t>
            </a:r>
            <a:br>
              <a:rPr lang="ru-RU" sz="1600" dirty="0">
                <a:latin typeface="AA Stetica" panose="02000503030000020004" pitchFamily="2" charset="0"/>
              </a:rPr>
            </a:br>
            <a:r>
              <a:rPr lang="ru-RU" sz="1600" dirty="0">
                <a:latin typeface="AA Stetica" panose="02000503030000020004" pitchFamily="2" charset="0"/>
              </a:rPr>
              <a:t>и реабилитации спортивных травм, а также в консультациях по организации тренировочного процесса и поддержанию физической формы.</a:t>
            </a:r>
          </a:p>
          <a:p>
            <a:endParaRPr lang="ru-RU" sz="1600" dirty="0">
              <a:latin typeface="AA Stetica" panose="02000503030000020004" pitchFamily="2" charset="0"/>
            </a:endParaRPr>
          </a:p>
          <a:p>
            <a:r>
              <a:rPr lang="ru-RU" sz="1600" b="1" dirty="0">
                <a:solidFill>
                  <a:srgbClr val="C41D1C"/>
                </a:solidFill>
                <a:latin typeface="AA Stetica" panose="02000503030000020004" pitchFamily="2" charset="0"/>
              </a:rPr>
              <a:t>Как это делает?</a:t>
            </a:r>
          </a:p>
          <a:p>
            <a:r>
              <a:rPr lang="ru-RU" sz="1600" dirty="0">
                <a:latin typeface="AA Stetica" panose="02000503030000020004" pitchFamily="2" charset="0"/>
              </a:rPr>
              <a:t>За счёт индивидуального подхода к каждому клиенту и чуткого отношения к его проблемам.</a:t>
            </a:r>
          </a:p>
        </p:txBody>
      </p:sp>
    </p:spTree>
    <p:extLst>
      <p:ext uri="{BB962C8B-B14F-4D97-AF65-F5344CB8AC3E}">
        <p14:creationId xmlns:p14="http://schemas.microsoft.com/office/powerpoint/2010/main" val="1963199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</Words>
  <Application>Microsoft Macintosh PowerPoint</Application>
  <PresentationFormat>Widescreen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AA Stetica</vt:lpstr>
      <vt:lpstr>AA Stetica Medium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1</cp:revision>
  <dcterms:created xsi:type="dcterms:W3CDTF">2026-04-03T09:16:32Z</dcterms:created>
  <dcterms:modified xsi:type="dcterms:W3CDTF">2026-04-03T09:17:04Z</dcterms:modified>
</cp:coreProperties>
</file>
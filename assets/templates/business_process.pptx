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E2273-E605-244F-AE75-9F35CAC58277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AAE26-AF26-5841-9602-A455C9F8A60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54880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95B4-2E1A-9D40-AA91-20C11FBEA97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12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3CC7-0E6F-3EAA-97BA-2C850EFEA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E3D14-D5A1-0AE3-5E0E-05EE36B03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401D-C88F-F1E7-3F71-6CC38DF4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952F4-7039-E0DB-6064-6E1B639D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09BB3-C1E2-3782-F05D-1F713ECD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8999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6ED5-777B-D481-4134-CB4295E3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D2366-B27B-5C36-E57C-A6220FD8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9FA2-8C19-3D22-BD19-D12A2256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19C7C-B49C-3DF8-DC30-A11166D9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698E2-B4D6-7F95-8779-9EB86D19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2180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BB44-B54A-6579-0453-CC7D968C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4A2B-8D78-DC06-4E28-839F2569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729C9-BD2F-8D90-3448-348FCB20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90C61-E1DF-5AF7-4C5A-FDD1110F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09B02-E2E0-F288-F137-B83C805F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4893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89DE-1C36-A5DE-DAA3-3425218F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4323A-1B16-620B-A3C8-C2D28B9AE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9C02A-0AF3-CDDA-48B1-06B27CE9B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CB203-AF1B-BDB7-4763-E5280D8C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25D0D-AF0B-8883-2F05-AB7ADABC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4CC5B-5A09-9F4F-940E-69A6AE1A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7095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E185-140A-916B-39F2-C197D0BF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22532-C85B-D16D-E226-01B50D701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50EEE-F822-D643-AA42-124F1D2F6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36FD4-FDBB-A8B9-40E4-FAE798D12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D8198-0F3A-36A2-8195-7C4A6E69D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379B8F-90BC-226D-8E1A-8FA20B6D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11581-1486-44BD-A548-200ED62C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D944F-3F19-BE30-24C7-3C6B850B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9905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1692-D5D0-2300-9B20-1363CC4F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70823-90C6-4C4D-6DED-F50361F4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A0767-7470-3B62-DA9A-38408D7F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76E3E-8DFA-FE7D-874B-C0CBA0AF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449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E5E04-0F19-59CE-803D-4031C364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809B8-F31E-8083-58A3-E9ACBD8A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B70B5-EE12-BAD9-7886-3D468A2B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2305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18F0-75CD-9968-9EA5-E05D36C1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D73DC-9327-EC68-E38A-C7B30A72F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7F73C-893A-B83F-ADB5-1E88C92F1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F3CA3-52F5-679F-3E50-AD9BA3F5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CFD38-2F10-3F47-9130-36C16A9F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87080-D1C1-C4B0-E9FE-2FB58557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44744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5AA1-2E5D-DB88-C0D5-2B3A4C25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962BB-B698-CB66-8551-463B25A4D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7C6F3-98A5-D65C-45B3-CB0966B49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5C6BE-90AC-A4A7-ED66-218614C1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D7DE1-5F0C-4665-AC39-A7CD48A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E75BA-065A-8269-5962-FC23571C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559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05B1-0F40-8784-447C-127F44D4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DB020-ACCE-5283-D056-0A8371476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4F58B-074E-0B4D-A315-DD58F3EA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D92CE-60E5-B726-1EB4-AADBEADC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2E341-EDA8-2375-6CB5-A988DECA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2285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F75FC-8D58-040F-28B6-C99D905ED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722EC-BD0E-51DE-4374-3C6F86A83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2095-1A57-71E4-9FF8-558314BD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BA883-0F5D-5C14-9441-E06ED2FA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37081-77B6-90F7-9D18-ED9CFB07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5608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B8562-4DFA-3B44-2937-00BD5AB1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6DF42-F40A-23D8-6A62-1BD57210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F9C7-F1F5-23A5-3D24-7C6678792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6842A-3AD6-DB42-AF29-CDD2F2A4AAA1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8FAB-EBC0-8BA9-C1F3-D7F16096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E089-709E-40C8-7F3B-DF24711D3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AB37D-BA17-4041-BADE-E056A43EF68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6431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B25A-F4A7-CD7C-159A-32D7D223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E861BB-4D09-8D36-6F7F-B4479742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308725"/>
            <a:ext cx="2743200" cy="365125"/>
          </a:xfrm>
        </p:spPr>
        <p:txBody>
          <a:bodyPr/>
          <a:lstStyle/>
          <a:p>
            <a:fld id="{7D144A82-4D05-BE4C-BA0D-9309131612F6}" type="slidenum">
              <a:rPr lang="ru-RU" smtClean="0">
                <a:latin typeface="AzbukaVkusa Light" panose="02000000000000000000" pitchFamily="2" charset="0"/>
              </a:rPr>
              <a:t>1</a:t>
            </a:fld>
            <a:endParaRPr lang="ru-RU">
              <a:latin typeface="AzbukaVkusa Light" panose="02000000000000000000" pitchFamily="2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E44767C-ADCC-3F21-C25F-41849C446D82}"/>
              </a:ext>
            </a:extLst>
          </p:cNvPr>
          <p:cNvCxnSpPr/>
          <p:nvPr/>
        </p:nvCxnSpPr>
        <p:spPr>
          <a:xfrm>
            <a:off x="334963" y="6324189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C0A6403-DB73-130D-2AF8-252D4BA13008}"/>
              </a:ext>
            </a:extLst>
          </p:cNvPr>
          <p:cNvCxnSpPr/>
          <p:nvPr/>
        </p:nvCxnSpPr>
        <p:spPr>
          <a:xfrm>
            <a:off x="334963" y="1161640"/>
            <a:ext cx="11522075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BA8F8D-8F98-BE87-A8C4-CDA525B4C8C7}"/>
              </a:ext>
            </a:extLst>
          </p:cNvPr>
          <p:cNvSpPr txBox="1"/>
          <p:nvPr/>
        </p:nvSpPr>
        <p:spPr>
          <a:xfrm>
            <a:off x="242890" y="577850"/>
            <a:ext cx="11302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zbukaVkusa" panose="02000000000000000000" pitchFamily="2" charset="0"/>
              </a:rPr>
              <a:t>Проведя интервью с сотрудниками</a:t>
            </a:r>
            <a:r>
              <a:rPr lang="en-US" sz="1600" dirty="0">
                <a:latin typeface="AzbukaVkusa" panose="02000000000000000000" pitchFamily="2" charset="0"/>
              </a:rPr>
              <a:t>, </a:t>
            </a:r>
            <a:r>
              <a:rPr lang="ru-RU" sz="1600" dirty="0">
                <a:latin typeface="AzbukaVkusa" panose="02000000000000000000" pitchFamily="2" charset="0"/>
              </a:rPr>
              <a:t>изучив инструкции по сборке</a:t>
            </a:r>
            <a:r>
              <a:rPr lang="en-US" sz="1600" dirty="0">
                <a:latin typeface="AzbukaVkusa" panose="02000000000000000000" pitchFamily="2" charset="0"/>
              </a:rPr>
              <a:t> </a:t>
            </a:r>
            <a:r>
              <a:rPr lang="ru-RU" sz="1600" dirty="0">
                <a:latin typeface="AzbukaVkusa" panose="02000000000000000000" pitchFamily="2" charset="0"/>
              </a:rPr>
              <a:t>и сходив в поля</a:t>
            </a:r>
            <a:r>
              <a:rPr lang="en-US" sz="1600" dirty="0">
                <a:latin typeface="AzbukaVkusa" panose="02000000000000000000" pitchFamily="2" charset="0"/>
              </a:rPr>
              <a:t>, </a:t>
            </a:r>
            <a:r>
              <a:rPr lang="ru-RU" sz="1600" dirty="0">
                <a:latin typeface="AzbukaVkusa" panose="02000000000000000000" pitchFamily="2" charset="0"/>
              </a:rPr>
              <a:t>мы описали процесс сборки заказа</a:t>
            </a:r>
            <a:r>
              <a:rPr lang="en-US" sz="1600" dirty="0">
                <a:latin typeface="AzbukaVkusa" panose="02000000000000000000" pitchFamily="2" charset="0"/>
              </a:rPr>
              <a:t>. </a:t>
            </a:r>
            <a:r>
              <a:rPr lang="ru-RU" sz="1600" dirty="0">
                <a:latin typeface="AzbukaVkusa" panose="02000000000000000000" pitchFamily="2" charset="0"/>
              </a:rPr>
              <a:t>По итогам описания была сформирована </a:t>
            </a:r>
            <a:r>
              <a:rPr lang="en-US" sz="1600" dirty="0">
                <a:latin typeface="AzbukaVkusa" panose="02000000000000000000" pitchFamily="2" charset="0"/>
              </a:rPr>
              <a:t>SMART-</a:t>
            </a:r>
            <a:r>
              <a:rPr lang="ru-RU" sz="1600" dirty="0">
                <a:latin typeface="AzbukaVkusa" panose="02000000000000000000" pitchFamily="2" charset="0"/>
              </a:rPr>
              <a:t>цель целевого состояния процесса</a:t>
            </a:r>
            <a:r>
              <a:rPr lang="en-US" sz="1600" dirty="0">
                <a:latin typeface="AzbukaVkusa" panose="02000000000000000000" pitchFamily="2" charset="0"/>
              </a:rPr>
              <a:t>.</a:t>
            </a:r>
            <a:endParaRPr lang="ru-RU" sz="1600" dirty="0">
              <a:latin typeface="AzbukaVkusa" panose="0200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757A9F-A199-9918-8E09-12239C09C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136" y="184150"/>
            <a:ext cx="996320" cy="34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7E081B-D8AE-5D5A-B686-4BD33A55AC34}"/>
              </a:ext>
            </a:extLst>
          </p:cNvPr>
          <p:cNvSpPr txBox="1"/>
          <p:nvPr/>
        </p:nvSpPr>
        <p:spPr>
          <a:xfrm>
            <a:off x="242889" y="6324189"/>
            <a:ext cx="17508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Источники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: 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Анализ команды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.</a:t>
            </a:r>
            <a:endParaRPr lang="ru-RU" sz="900" dirty="0">
              <a:solidFill>
                <a:schemeClr val="bg1">
                  <a:lumMod val="50000"/>
                </a:schemeClr>
              </a:solidFill>
              <a:latin typeface="AzbukaVkusa Light" panose="02000000000000000000" pitchFamily="2" charset="0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21B6AA7D-468A-1F4B-19B6-E096E82089E9}"/>
              </a:ext>
            </a:extLst>
          </p:cNvPr>
          <p:cNvSpPr/>
          <p:nvPr/>
        </p:nvSpPr>
        <p:spPr>
          <a:xfrm>
            <a:off x="334964" y="157881"/>
            <a:ext cx="2208944" cy="391393"/>
          </a:xfrm>
          <a:prstGeom prst="roundRect">
            <a:avLst>
              <a:gd name="adj" fmla="val 20028"/>
            </a:avLst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zbukaVkusa" panose="02000000000000000000" pitchFamily="2" charset="0"/>
              </a:rPr>
              <a:t>Диагностика процесса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FF2C5-A0A8-7BC5-8FE0-8FD76771EFEE}"/>
              </a:ext>
            </a:extLst>
          </p:cNvPr>
          <p:cNvSpPr txBox="1"/>
          <p:nvPr/>
        </p:nvSpPr>
        <p:spPr>
          <a:xfrm>
            <a:off x="241899" y="1213061"/>
            <a:ext cx="3669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zbukaVkusa" panose="02000000000000000000" pitchFamily="2" charset="0"/>
              </a:rPr>
              <a:t>Верхний уровень процесса сборки</a:t>
            </a:r>
          </a:p>
        </p:txBody>
      </p:sp>
      <p:pic>
        <p:nvPicPr>
          <p:cNvPr id="11" name="Рисунок 10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829B81A5-3AF6-018D-51A6-90282EE2C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41" y="4755730"/>
            <a:ext cx="4401160" cy="152913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диаграмма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AF9AC359-C533-4299-D56B-6660000FB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662" y="5290973"/>
            <a:ext cx="3252735" cy="924132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линия, че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25524B5F-2C43-0C2A-ECF4-7987EEB92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953" y="1573942"/>
            <a:ext cx="11617503" cy="29021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C9B121-BEEE-2F4F-B6FD-1821C56EE2BC}"/>
              </a:ext>
            </a:extLst>
          </p:cNvPr>
          <p:cNvSpPr txBox="1"/>
          <p:nvPr/>
        </p:nvSpPr>
        <p:spPr>
          <a:xfrm>
            <a:off x="241898" y="4546464"/>
            <a:ext cx="6421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zbukaVkusa" panose="02000000000000000000" pitchFamily="2" charset="0"/>
              </a:rPr>
              <a:t>Детализация процесса подготовки инфраструктуры и отмены заказа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32229-A225-8DFA-3557-A30DB02D6279}"/>
              </a:ext>
            </a:extLst>
          </p:cNvPr>
          <p:cNvSpPr txBox="1"/>
          <p:nvPr/>
        </p:nvSpPr>
        <p:spPr>
          <a:xfrm>
            <a:off x="1155942" y="2842347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652B9-3ABC-9492-B3CD-F98AB3E9483B}"/>
              </a:ext>
            </a:extLst>
          </p:cNvPr>
          <p:cNvSpPr txBox="1"/>
          <p:nvPr/>
        </p:nvSpPr>
        <p:spPr>
          <a:xfrm>
            <a:off x="1593420" y="2842347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59A91-734B-5EB9-88C3-6D0A60504C6F}"/>
              </a:ext>
            </a:extLst>
          </p:cNvPr>
          <p:cNvSpPr txBox="1"/>
          <p:nvPr/>
        </p:nvSpPr>
        <p:spPr>
          <a:xfrm>
            <a:off x="2461204" y="2831589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90FBE-E633-E841-9568-78083B367639}"/>
              </a:ext>
            </a:extLst>
          </p:cNvPr>
          <p:cNvSpPr txBox="1"/>
          <p:nvPr/>
        </p:nvSpPr>
        <p:spPr>
          <a:xfrm>
            <a:off x="2914818" y="2831422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59150-D9B9-3B22-6335-76966C712741}"/>
              </a:ext>
            </a:extLst>
          </p:cNvPr>
          <p:cNvSpPr txBox="1"/>
          <p:nvPr/>
        </p:nvSpPr>
        <p:spPr>
          <a:xfrm>
            <a:off x="3351792" y="2826209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E85B0-B661-B5F4-8D08-90F021C6D238}"/>
              </a:ext>
            </a:extLst>
          </p:cNvPr>
          <p:cNvSpPr txBox="1"/>
          <p:nvPr/>
        </p:nvSpPr>
        <p:spPr>
          <a:xfrm>
            <a:off x="4199853" y="3160390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3480C-51ED-BA72-CEE2-1F646FC09625}"/>
              </a:ext>
            </a:extLst>
          </p:cNvPr>
          <p:cNvSpPr txBox="1"/>
          <p:nvPr/>
        </p:nvSpPr>
        <p:spPr>
          <a:xfrm>
            <a:off x="4994629" y="3136517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074732"/>
                </a:solidFill>
              </a:rPr>
              <a:t>VA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6CC050-6C01-AD49-09EB-560FBDCDA2BC}"/>
              </a:ext>
            </a:extLst>
          </p:cNvPr>
          <p:cNvSpPr txBox="1"/>
          <p:nvPr/>
        </p:nvSpPr>
        <p:spPr>
          <a:xfrm>
            <a:off x="5969266" y="2425416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9FB43-2D46-77FD-B37B-7AFEFD8FDDF7}"/>
              </a:ext>
            </a:extLst>
          </p:cNvPr>
          <p:cNvSpPr txBox="1"/>
          <p:nvPr/>
        </p:nvSpPr>
        <p:spPr>
          <a:xfrm>
            <a:off x="6187567" y="3449489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8EDF8-6287-C2CB-8BEF-F5EDABC094AE}"/>
              </a:ext>
            </a:extLst>
          </p:cNvPr>
          <p:cNvSpPr txBox="1"/>
          <p:nvPr/>
        </p:nvSpPr>
        <p:spPr>
          <a:xfrm>
            <a:off x="7374308" y="2775986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B57B0A-0DFF-18C1-8125-139AB1003DDA}"/>
              </a:ext>
            </a:extLst>
          </p:cNvPr>
          <p:cNvSpPr txBox="1"/>
          <p:nvPr/>
        </p:nvSpPr>
        <p:spPr>
          <a:xfrm>
            <a:off x="8264896" y="2775985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DDDB1-A100-CF46-743C-8EE156B2D5AA}"/>
              </a:ext>
            </a:extLst>
          </p:cNvPr>
          <p:cNvSpPr txBox="1"/>
          <p:nvPr/>
        </p:nvSpPr>
        <p:spPr>
          <a:xfrm>
            <a:off x="8264896" y="2269752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700" b="1" dirty="0">
                <a:solidFill>
                  <a:srgbClr val="FF0000"/>
                </a:solidFill>
              </a:rPr>
              <a:t>NVA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63859-98EF-906E-F590-A112DF4429A7}"/>
              </a:ext>
            </a:extLst>
          </p:cNvPr>
          <p:cNvSpPr txBox="1"/>
          <p:nvPr/>
        </p:nvSpPr>
        <p:spPr>
          <a:xfrm>
            <a:off x="9019771" y="2775985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96E64D-9AD2-E5B0-BC02-2C29E711C64B}"/>
              </a:ext>
            </a:extLst>
          </p:cNvPr>
          <p:cNvSpPr txBox="1"/>
          <p:nvPr/>
        </p:nvSpPr>
        <p:spPr>
          <a:xfrm>
            <a:off x="9887555" y="2775985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40849A-CA79-6EEC-4D11-380F216D86AF}"/>
              </a:ext>
            </a:extLst>
          </p:cNvPr>
          <p:cNvSpPr txBox="1"/>
          <p:nvPr/>
        </p:nvSpPr>
        <p:spPr>
          <a:xfrm>
            <a:off x="10341169" y="2780895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5725CE-CB26-8816-AEB5-271DBBF0FDAB}"/>
              </a:ext>
            </a:extLst>
          </p:cNvPr>
          <p:cNvSpPr txBox="1"/>
          <p:nvPr/>
        </p:nvSpPr>
        <p:spPr>
          <a:xfrm>
            <a:off x="10985374" y="2774666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AD18B127-8F4E-B986-32F3-DA0B790D4617}"/>
              </a:ext>
            </a:extLst>
          </p:cNvPr>
          <p:cNvSpPr/>
          <p:nvPr/>
        </p:nvSpPr>
        <p:spPr>
          <a:xfrm>
            <a:off x="9699171" y="5274908"/>
            <a:ext cx="1550421" cy="792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A7740B-C1E4-9B00-7806-025961476B56}"/>
              </a:ext>
            </a:extLst>
          </p:cNvPr>
          <p:cNvSpPr txBox="1"/>
          <p:nvPr/>
        </p:nvSpPr>
        <p:spPr>
          <a:xfrm>
            <a:off x="8700416" y="4608249"/>
            <a:ext cx="29752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AzbukaVkusa" panose="02000000000000000000" pitchFamily="2" charset="0"/>
              </a:rPr>
              <a:t>Показатели эффективности:</a:t>
            </a:r>
            <a:r>
              <a:rPr lang="en-US" sz="1500" dirty="0">
                <a:latin typeface="AzbukaVkusa" panose="02000000000000000000" pitchFamily="2" charset="0"/>
              </a:rPr>
              <a:t>*</a:t>
            </a:r>
            <a:endParaRPr lang="ru-RU" sz="1500" dirty="0">
              <a:latin typeface="AzbukaVkusa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3332BA-7C1F-281F-A689-7ED5B488ED39}"/>
              </a:ext>
            </a:extLst>
          </p:cNvPr>
          <p:cNvSpPr txBox="1"/>
          <p:nvPr/>
        </p:nvSpPr>
        <p:spPr>
          <a:xfrm>
            <a:off x="8710960" y="4816148"/>
            <a:ext cx="2975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41-45</a:t>
            </a:r>
            <a:r>
              <a:rPr lang="ru-RU" sz="3200" b="1" dirty="0"/>
              <a:t>%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05021D1-DDA2-724A-C88E-8FCAD35C740D}"/>
              </a:ext>
            </a:extLst>
          </p:cNvPr>
          <p:cNvSpPr/>
          <p:nvPr/>
        </p:nvSpPr>
        <p:spPr>
          <a:xfrm>
            <a:off x="9699171" y="5274908"/>
            <a:ext cx="1550421" cy="792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3E38F4-3AF3-61AA-942F-B51B81387991}"/>
              </a:ext>
            </a:extLst>
          </p:cNvPr>
          <p:cNvSpPr txBox="1"/>
          <p:nvPr/>
        </p:nvSpPr>
        <p:spPr>
          <a:xfrm>
            <a:off x="8726792" y="5219892"/>
            <a:ext cx="2975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zbukaVkusa" panose="02000000000000000000" pitchFamily="2" charset="0"/>
              </a:rPr>
              <a:t>Основной процесс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2D2DF9-A152-B07D-F9B7-1684568F0428}"/>
              </a:ext>
            </a:extLst>
          </p:cNvPr>
          <p:cNvSpPr txBox="1"/>
          <p:nvPr/>
        </p:nvSpPr>
        <p:spPr>
          <a:xfrm>
            <a:off x="8719108" y="5953730"/>
            <a:ext cx="2975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zbukaVkusa" panose="02000000000000000000" pitchFamily="2" charset="0"/>
              </a:rPr>
              <a:t>Заказ ПНМ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5187D6-5C00-8E06-BD4A-851C22FC8B57}"/>
              </a:ext>
            </a:extLst>
          </p:cNvPr>
          <p:cNvSpPr txBox="1"/>
          <p:nvPr/>
        </p:nvSpPr>
        <p:spPr>
          <a:xfrm>
            <a:off x="8713717" y="5556417"/>
            <a:ext cx="2975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48-53</a:t>
            </a:r>
            <a:r>
              <a:rPr lang="ru-RU" sz="3200" b="1" dirty="0"/>
              <a:t>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FE5A2D-DCD8-9B8B-6FF1-B9B1B78BCC78}"/>
              </a:ext>
            </a:extLst>
          </p:cNvPr>
          <p:cNvSpPr txBox="1"/>
          <p:nvPr/>
        </p:nvSpPr>
        <p:spPr>
          <a:xfrm>
            <a:off x="10638045" y="4896585"/>
            <a:ext cx="15504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*</a:t>
            </a:r>
            <a:r>
              <a:rPr lang="ru-RU" sz="700" dirty="0">
                <a:solidFill>
                  <a:schemeClr val="bg1">
                    <a:lumMod val="50000"/>
                  </a:schemeClr>
                </a:solidFill>
                <a:latin typeface="AzbukaVkusa Light" panose="02000000000000000000" pitchFamily="2" charset="0"/>
              </a:rPr>
              <a:t>на значение показателя влияют факторы наличия товара и планировка склада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43B867-3376-2704-58A8-C90DC9CB03FB}"/>
              </a:ext>
            </a:extLst>
          </p:cNvPr>
          <p:cNvSpPr txBox="1"/>
          <p:nvPr/>
        </p:nvSpPr>
        <p:spPr>
          <a:xfrm>
            <a:off x="4348291" y="2376917"/>
            <a:ext cx="2968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solidFill>
                  <a:srgbClr val="074732"/>
                </a:solidFill>
              </a:rPr>
              <a:t>VA</a:t>
            </a:r>
            <a:endParaRPr lang="en-RU" sz="700" b="1" dirty="0">
              <a:solidFill>
                <a:srgbClr val="0747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76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AzbukaVkusa</vt:lpstr>
      <vt:lpstr>AzbukaVkusa Light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2026-04-03T09:26:32Z</dcterms:created>
  <dcterms:modified xsi:type="dcterms:W3CDTF">2026-04-03T09:27:07Z</dcterms:modified>
</cp:coreProperties>
</file>